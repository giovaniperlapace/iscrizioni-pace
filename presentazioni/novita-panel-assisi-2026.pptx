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21" d="100"/>
          <a:sy n="121" d="100"/>
        </p:scale>
        <p:origin x="7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Apertura: il modulo panel non è una pagina isolata, ma un percorso completo che parte dalla configurazione e arriva al report.</a:t>
            </a:r>
          </a:p>
          <a:p>
            <a:endParaRPr/>
          </a:p>
          <a:p>
            <a:r>
              <a:t>[Sources]</a:t>
            </a:r>
          </a:p>
          <a:p>
            <a:r>
              <a:t>- /Users/giovaniperlapace/Developer/iscrizioni-pace/app/public-panel-program.tsx</a:t>
            </a:r>
          </a:p>
          <a:p>
            <a:r>
              <a:t>- /Users/giovaniperlapace/Developer/iscrizioni-pace/PIANO_DI_LAVORO_PANEL.md — Milestone P5</a:t>
            </a:r>
          </a:p>
          <a:p>
            <a:r>
              <a:t>- /Users/giovaniperlapace/Developer/iscrizioni-pace/.codex-panel-deck.OUAcy9/raster/home-full.png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Usare questa slide come mappa: le schermate successive percorrono il ciclo da sinistra a destra.</a:t>
            </a:r>
          </a:p>
          <a:p>
            <a:endParaRPr/>
          </a:p>
          <a:p>
            <a:r>
              <a:t>[Sources]</a:t>
            </a:r>
          </a:p>
          <a:p>
            <a:r>
              <a:t>- /Users/giovaniperlapace/Developer/iscrizioni-pace/PIANO_DI_LAVORO_PANEL.md — Milestone P0-P10</a:t>
            </a:r>
          </a:p>
          <a:p>
            <a:r>
              <a:t>- /Users/giovaniperlapace/Developer/iscrizioni-pace/docs/panel-p0-decisions.md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/Users/giovaniperlapace/Developer/iscrizioni-pace/app/dashboard/manager/page.tsx</a:t>
            </a:r>
          </a:p>
          <a:p>
            <a:r>
              <a:t>- /Users/giovaniperlapace/Developer/iscrizioni-pace/app/dashboard/panel-drafts-section.tsx</a:t>
            </a:r>
          </a:p>
          <a:p>
            <a:r>
              <a:t>- /Users/giovaniperlapace/Developer/iscrizioni-pace/app/dashboard/panel-locations-section.tsx</a:t>
            </a:r>
          </a:p>
          <a:p>
            <a:r>
              <a:t>- /Users/giovaniperlapace/Developer/iscrizioni-pace/app/dashboard/school-bookings-section.tsx</a:t>
            </a:r>
          </a:p>
          <a:p>
            <a:r>
              <a:t>- /Users/giovaniperlapace/Developer/iscrizioni-pace/.codex-panel-deck.OUAcy9/raster/manager-menu-catalogo-panel.png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Ricordare che la pubblicazione multipla è transazionale: se un panel della selezione non è valido, nessuno viene pubblicato.</a:t>
            </a:r>
          </a:p>
          <a:p>
            <a:endParaRPr/>
          </a:p>
          <a:p>
            <a:r>
              <a:t>[Sources]</a:t>
            </a:r>
          </a:p>
          <a:p>
            <a:r>
              <a:t>- /Users/giovaniperlapace/Developer/iscrizioni-pace/app/dashboard/panel-draft-fields.tsx</a:t>
            </a:r>
          </a:p>
          <a:p>
            <a:r>
              <a:t>- /Users/giovaniperlapace/Developer/iscrizioni-pace/app/dashboard/panel-publication-table.tsx</a:t>
            </a:r>
          </a:p>
          <a:p>
            <a:r>
              <a:t>- /Users/giovaniperlapace/Developer/iscrizioni-pace/supabase/migrations/20260805220000_panel_draft_management.sql</a:t>
            </a:r>
          </a:p>
          <a:p>
            <a:r>
              <a:t>- /Users/giovaniperlapace/Developer/iscrizioni-pace/supabase/migrations/20260805230000_panel_publication_management.sql</a:t>
            </a:r>
          </a:p>
          <a:p>
            <a:r>
              <a:t>- /Users/giovaniperlapace/Developer/iscrizioni-pace/.codex-panel-deck.OUAcy9/raster/manager-editor-panel-cropped.png — screenshot locale su staging sintetico</a:t>
            </a:r>
          </a:p>
          <a:p>
            <a:r>
              <a:t>- /Users/giovaniperlapace/Developer/iscrizioni-pace/.codex-panel-deck.OUAcy9/raster/manager-editor-sezioni.png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/Users/giovaniperlapace/Developer/iscrizioni-pace/app/dashboard/panel-locations-section.tsx</a:t>
            </a:r>
          </a:p>
          <a:p>
            <a:r>
              <a:t>- /Users/giovaniperlapace/Developer/iscrizioni-pace/lib/panels/event-locations.ts</a:t>
            </a:r>
          </a:p>
          <a:p>
            <a:r>
              <a:t>- /Users/giovaniperlapace/Developer/iscrizioni-pace/supabase/migrations/20260805200000_panel_location_management.sql</a:t>
            </a:r>
          </a:p>
          <a:p>
            <a:r>
              <a:t>- /Users/giovaniperlapace/Developer/iscrizioni-pace/.codex-panel-deck.OUAcy9/raster/manager-location.png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/Users/giovaniperlapace/Developer/iscrizioni-pace/app/public-panel-program.tsx</a:t>
            </a:r>
          </a:p>
          <a:p>
            <a:r>
              <a:t>- /Users/giovaniperlapace/Developer/iscrizioni-pace/app/dashboard/partecipante/participant-panel-bookings.tsx</a:t>
            </a:r>
          </a:p>
          <a:p>
            <a:r>
              <a:t>- /Users/giovaniperlapace/Developer/iscrizioni-pace/supabase/migrations/20260806120000_individual_panel_bookings.sql</a:t>
            </a:r>
          </a:p>
          <a:p>
            <a:r>
              <a:t>- /Users/giovaniperlapace/Developer/iscrizioni-pace/.codex-panel-deck.OUAcy9/raster/programma-pubblico.png — screenshot locale su staging sintetico</a:t>
            </a:r>
          </a:p>
          <a:p>
            <a:r>
              <a:t>- /Users/giovaniperlapace/Developer/iscrizioni-pace/.codex-panel-deck.OUAcy9/raster/partecipante-scelta-panel.png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/Users/giovaniperlapace/Developer/iscrizioni-pace/app/scuole/page.tsx</a:t>
            </a:r>
          </a:p>
          <a:p>
            <a:r>
              <a:t>- /Users/giovaniperlapace/Developer/iscrizioni-pace/lib/panels/public-school-flow.ts</a:t>
            </a:r>
          </a:p>
          <a:p>
            <a:r>
              <a:t>- /Users/giovaniperlapace/Developer/iscrizioni-pace/supabase/migrations/20260806160000_school_panel_bookings.sql</a:t>
            </a:r>
          </a:p>
          <a:p>
            <a:r>
              <a:t>- /Users/giovaniperlapace/Developer/iscrizioni-pace/supabase/migrations/20260806190000_public_school_booking_flow.sql</a:t>
            </a:r>
          </a:p>
          <a:p>
            <a:r>
              <a:t>- /Users/giovaniperlapace/Developer/iscrizioni-pace/.codex-panel-deck.OUAcy9/raster/scuole-scelta-panel.png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Segnalare anche il nuovo campo personalizzato Panel prenotati disponibile nell'editor della campagna.</a:t>
            </a:r>
          </a:p>
          <a:p>
            <a:endParaRPr/>
          </a:p>
          <a:p>
            <a:r>
              <a:t>[Sources]</a:t>
            </a:r>
          </a:p>
          <a:p>
            <a:r>
              <a:t>- /Users/giovaniperlapace/Developer/iscrizioni-pace/app/dashboard/manager/email/email-campaign-composer.tsx</a:t>
            </a:r>
          </a:p>
          <a:p>
            <a:r>
              <a:t>- /Users/giovaniperlapace/Developer/iscrizioni-pace/supabase/migrations/20260806200000_panel_campaign_audiences.sql</a:t>
            </a:r>
          </a:p>
          <a:p>
            <a:r>
              <a:t>- /Users/giovaniperlapace/Developer/iscrizioni-pace/.codex-panel-deck.OUAcy9/raster/email-filtri-panel-4.png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/Users/giovaniperlapace/Developer/iscrizioni-pace/app/dashboard/panel-statistics-report.tsx</a:t>
            </a:r>
          </a:p>
          <a:p>
            <a:r>
              <a:t>- /Users/giovaniperlapace/Developer/iscrizioni-pace/lib/panels/panel-statistics.ts</a:t>
            </a:r>
          </a:p>
          <a:p>
            <a:r>
              <a:t>- /Users/giovaniperlapace/Developer/iscrizioni-pace/PIANO_DI_LAVORO_PANEL.md — Milestone P10</a:t>
            </a:r>
          </a:p>
          <a:p>
            <a:r>
              <a:t>- /Users/giovaniperlapace/Developer/iscrizioni-pace/.codex-panel-deck.OUAcy9/raster/statistiche-panel.png — screenshot locale su staging sintetico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Chiusura: il punto di valore è l'integrazione. Il prossimo blocco non ricostruisce il sistema, ma aggiunge le presenze effettive ai dati già disponibili.</a:t>
            </a:r>
          </a:p>
          <a:p>
            <a:endParaRPr/>
          </a:p>
          <a:p>
            <a:r>
              <a:t>[Sources]</a:t>
            </a:r>
          </a:p>
          <a:p>
            <a:r>
              <a:t>- /Users/giovaniperlapace/Developer/iscrizioni-pace/PIANO_DI_LAVORO_PANEL.md — stato integrazione P0-P10 e Milestone P11-P13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698522E2-3B3C-4D5D-B1F2-19A153EEBD7E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5962650" cy="6858000"/>
          </a:xfrm>
          <a:prstGeom prst="rect">
            <a:avLst/>
          </a:prstGeom>
          <a:solidFill>
            <a:srgbClr val="082F5F"/>
          </a:solidFill>
          <a:ln w="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9BBDFB6-9EE9-4813-89AE-0E4C8321E563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1104900" cy="47625"/>
          </a:xfrm>
          <a:prstGeom prst="rect">
            <a:avLst/>
          </a:prstGeom>
          <a:solidFill>
            <a:srgbClr val="40C8EF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224C4EF-E1B1-49D7-AC92-D8F6A858E7D0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ASSISI 2026</a:t>
            </a:r>
          </a:p>
        </p:txBody>
      </p:sp>
      <p:sp>
        <p:nvSpPr>
          <p:cNvPr id="4" name="deck-title">
            <a:extLst>
              <a:ext uri="{FF2B5EF4-FFF2-40B4-BE49-F238E27FC236}">
                <a16:creationId xmlns:a16="http://schemas.microsoft.com/office/drawing/2014/main" id="{452DDFF9-BCA8-4C2E-A3D7-646606CFF243}"/>
              </a:ext>
            </a:extLst>
          </p:cNvPr>
          <p:cNvSpPr>
            <a:spLocks noGrp="1"/>
          </p:cNvSpPr>
          <p:nvPr/>
        </p:nvSpPr>
        <p:spPr>
          <a:xfrm>
            <a:off x="590550" y="1314450"/>
            <a:ext cx="4953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 i="0">
                <a:solidFill>
                  <a:srgbClr val="000000"/>
                </a:solidFill>
              </a:defRPr>
            </a:pPr>
            <a:r>
              <a:rPr sz="4350" b="1" i="0">
                <a:solidFill>
                  <a:srgbClr val="000000"/>
                </a:solidFill>
              </a:rPr>
              <a:t>Panel: tutte</a:t>
            </a:r>
          </a:p>
          <a:p>
            <a:pPr algn="l">
              <a:defRPr sz="4350" b="1" i="0">
                <a:solidFill>
                  <a:srgbClr val="000000"/>
                </a:solidFill>
              </a:defRPr>
            </a:pPr>
            <a:r>
              <a:rPr sz="4350" b="1" i="0">
                <a:solidFill>
                  <a:srgbClr val="000000"/>
                </a:solidFill>
              </a:rPr>
              <a:t>le novità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5F7ACE3-90AF-47DD-9B46-FF557B7DB69E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4762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 i="0">
                <a:solidFill>
                  <a:srgbClr val="5F6F82"/>
                </a:solidFill>
              </a:defRPr>
            </a:pPr>
            <a:r>
              <a:rPr sz="1875" b="0" i="0" dirty="0" err="1">
                <a:solidFill>
                  <a:srgbClr val="5F6F82"/>
                </a:solidFill>
              </a:rPr>
              <a:t>Programma</a:t>
            </a:r>
            <a:r>
              <a:rPr sz="1875" b="0" i="0" dirty="0">
                <a:solidFill>
                  <a:srgbClr val="5F6F82"/>
                </a:solidFill>
              </a:rPr>
              <a:t>, </a:t>
            </a:r>
            <a:r>
              <a:rPr sz="1875" b="0" i="0" dirty="0" err="1">
                <a:solidFill>
                  <a:srgbClr val="5F6F82"/>
                </a:solidFill>
              </a:rPr>
              <a:t>capienze</a:t>
            </a:r>
            <a:r>
              <a:rPr sz="1875" b="0" i="0" dirty="0">
                <a:solidFill>
                  <a:srgbClr val="5F6F82"/>
                </a:solidFill>
              </a:rPr>
              <a:t>, </a:t>
            </a:r>
            <a:r>
              <a:rPr sz="1875" b="0" i="0" dirty="0" err="1">
                <a:solidFill>
                  <a:srgbClr val="5F6F82"/>
                </a:solidFill>
              </a:rPr>
              <a:t>prenotazioni</a:t>
            </a:r>
            <a:r>
              <a:rPr sz="1875" b="0" i="0" dirty="0">
                <a:solidFill>
                  <a:srgbClr val="5F6F82"/>
                </a:solidFill>
              </a:rPr>
              <a:t> e </a:t>
            </a:r>
            <a:r>
              <a:rPr sz="1875" b="0" i="0" dirty="0" err="1">
                <a:solidFill>
                  <a:srgbClr val="5F6F82"/>
                </a:solidFill>
              </a:rPr>
              <a:t>strumenti</a:t>
            </a:r>
            <a:r>
              <a:rPr sz="1875" b="0" i="0" dirty="0">
                <a:solidFill>
                  <a:srgbClr val="5F6F82"/>
                </a:solidFill>
              </a:rPr>
              <a:t> </a:t>
            </a:r>
            <a:r>
              <a:rPr sz="1875" b="0" i="0" dirty="0" err="1">
                <a:solidFill>
                  <a:srgbClr val="5F6F82"/>
                </a:solidFill>
              </a:rPr>
              <a:t>operativi</a:t>
            </a:r>
            <a:r>
              <a:rPr sz="1875" b="0" i="0" dirty="0">
                <a:solidFill>
                  <a:srgbClr val="5F6F82"/>
                </a:solidFill>
              </a:rPr>
              <a:t> in un </a:t>
            </a:r>
            <a:r>
              <a:rPr sz="1875" b="0" i="0" dirty="0" err="1">
                <a:solidFill>
                  <a:srgbClr val="5F6F82"/>
                </a:solidFill>
              </a:rPr>
              <a:t>unico</a:t>
            </a:r>
            <a:r>
              <a:rPr sz="1875" b="0" i="0" dirty="0">
                <a:solidFill>
                  <a:srgbClr val="5F6F82"/>
                </a:solidFill>
              </a:rPr>
              <a:t> </a:t>
            </a:r>
            <a:r>
              <a:rPr sz="1875" b="0" i="0" dirty="0" err="1">
                <a:solidFill>
                  <a:srgbClr val="5F6F82"/>
                </a:solidFill>
              </a:rPr>
              <a:t>flusso</a:t>
            </a:r>
            <a:r>
              <a:rPr sz="1875" b="0" i="0" dirty="0">
                <a:solidFill>
                  <a:srgbClr val="5F6F82"/>
                </a:solidFill>
              </a:rPr>
              <a:t>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B30BA39-D05B-446F-9127-39522258F280}"/>
              </a:ext>
            </a:extLst>
          </p:cNvPr>
          <p:cNvSpPr>
            <a:spLocks noGrp="1"/>
          </p:cNvSpPr>
          <p:nvPr/>
        </p:nvSpPr>
        <p:spPr>
          <a:xfrm>
            <a:off x="590550" y="55435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0B4F8F"/>
                </a:solidFill>
              </a:defRPr>
            </a:pPr>
            <a:r>
              <a:rPr sz="1275" b="1" i="0">
                <a:solidFill>
                  <a:srgbClr val="0B4F8F"/>
                </a:solidFill>
              </a:rPr>
              <a:t>Panoramica delle funzioni P0–P10 · ambiente di staging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F3DD5BF-0AB0-46D9-BFA8-1A667C2D1EE1}"/>
              </a:ext>
            </a:extLst>
          </p:cNvPr>
          <p:cNvSpPr>
            <a:spLocks noGrp="1"/>
          </p:cNvSpPr>
          <p:nvPr/>
        </p:nvSpPr>
        <p:spPr>
          <a:xfrm>
            <a:off x="6705600" y="514350"/>
            <a:ext cx="4914900" cy="582930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605E2C9-010B-A7DC-8264-D258BE57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25" y="694996"/>
            <a:ext cx="4152900" cy="9906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59AD0E7-0B7D-96F6-1EAA-0EEB62A96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95" y="1879535"/>
            <a:ext cx="4024310" cy="328820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376C7F3-9246-3CFF-C400-D12E9069F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895" y="5219632"/>
            <a:ext cx="4268337" cy="6478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9F52C26-A1DB-145D-1F9D-F3C730C89281}"/>
              </a:ext>
            </a:extLst>
          </p:cNvPr>
          <p:cNvSpPr txBox="1"/>
          <p:nvPr/>
        </p:nvSpPr>
        <p:spPr>
          <a:xfrm>
            <a:off x="7028881" y="5919363"/>
            <a:ext cx="426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72E5F"/>
                </a:solidFill>
              </a:rPr>
              <a:t>Nuovi elementi della home</a:t>
            </a:r>
          </a:p>
        </p:txBody>
      </p:sp>
    </p:spTree>
    <p:extLst>
      <p:ext uri="{BB962C8B-B14F-4D97-AF65-F5344CB8AC3E}">
        <p14:creationId xmlns:p14="http://schemas.microsoft.com/office/powerpoint/2010/main" val="197632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Panoramica">
            <a:extLst>
              <a:ext uri="{FF2B5EF4-FFF2-40B4-BE49-F238E27FC236}">
                <a16:creationId xmlns:a16="http://schemas.microsoft.com/office/drawing/2014/main" id="{F8FA7AE7-3ACE-43CD-A376-66953BCF6820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PANORAMICA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9BD4B8B-1940-48BA-9B62-5BFAF571C124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Il modulo copre tutto il ciclo dei panel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B424B4D-A313-4EA2-BEC4-E3CFDF3A6BA5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 i="0">
                <a:solidFill>
                  <a:srgbClr val="082F5F"/>
                </a:solidFill>
              </a:defRPr>
            </a:pPr>
            <a:r>
              <a:rPr sz="1950" b="1" i="0">
                <a:solidFill>
                  <a:srgbClr val="082F5F"/>
                </a:solidFill>
              </a:rPr>
              <a:t>Un’unica catena operativa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78CF3EB-9952-4273-B0E1-8D6DEB95A4DB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3545928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10243C"/>
                </a:solidFill>
              </a:defRPr>
            </a:pPr>
            <a:r>
              <a:rPr sz="1650" b="0" i="0" dirty="0">
                <a:solidFill>
                  <a:srgbClr val="10243C"/>
                </a:solidFill>
              </a:rPr>
              <a:t>Le </a:t>
            </a:r>
            <a:r>
              <a:rPr sz="1650" b="0" i="0" dirty="0" err="1">
                <a:solidFill>
                  <a:srgbClr val="10243C"/>
                </a:solidFill>
              </a:rPr>
              <a:t>stesse</a:t>
            </a:r>
            <a:r>
              <a:rPr sz="1650" b="0" i="0" dirty="0">
                <a:solidFill>
                  <a:srgbClr val="10243C"/>
                </a:solidFill>
              </a:rPr>
              <a:t> </a:t>
            </a:r>
            <a:r>
              <a:rPr sz="1650" b="0" i="0" dirty="0" err="1">
                <a:solidFill>
                  <a:srgbClr val="10243C"/>
                </a:solidFill>
              </a:rPr>
              <a:t>informazioni</a:t>
            </a:r>
            <a:r>
              <a:rPr sz="1650" b="0" i="0" dirty="0">
                <a:solidFill>
                  <a:srgbClr val="10243C"/>
                </a:solidFill>
              </a:rPr>
              <a:t> </a:t>
            </a:r>
            <a:r>
              <a:rPr lang="it-IT" sz="1650" dirty="0">
                <a:solidFill>
                  <a:srgbClr val="10243C"/>
                </a:solidFill>
              </a:rPr>
              <a:t>sono utilizzate per essere mostrate nel</a:t>
            </a:r>
            <a:r>
              <a:rPr sz="1650" b="0" i="0" dirty="0">
                <a:solidFill>
                  <a:srgbClr val="10243C"/>
                </a:solidFill>
              </a:rPr>
              <a:t> </a:t>
            </a:r>
            <a:r>
              <a:rPr sz="1650" b="0" i="0" dirty="0" err="1">
                <a:solidFill>
                  <a:srgbClr val="10243C"/>
                </a:solidFill>
              </a:rPr>
              <a:t>programma</a:t>
            </a:r>
            <a:r>
              <a:rPr sz="1650" b="0" i="0" dirty="0">
                <a:solidFill>
                  <a:srgbClr val="10243C"/>
                </a:solidFill>
              </a:rPr>
              <a:t> </a:t>
            </a:r>
            <a:r>
              <a:rPr sz="1650" b="0" i="0" dirty="0" err="1">
                <a:solidFill>
                  <a:srgbClr val="10243C"/>
                </a:solidFill>
              </a:rPr>
              <a:t>pubblico</a:t>
            </a:r>
            <a:r>
              <a:rPr sz="1650" b="0" i="0" dirty="0">
                <a:solidFill>
                  <a:srgbClr val="10243C"/>
                </a:solidFill>
              </a:rPr>
              <a:t>,</a:t>
            </a:r>
            <a:r>
              <a:rPr lang="it-IT" sz="1650" b="0" i="0" dirty="0">
                <a:solidFill>
                  <a:srgbClr val="10243C"/>
                </a:solidFill>
              </a:rPr>
              <a:t> per gestire le</a:t>
            </a:r>
            <a:r>
              <a:rPr sz="1650" b="0" i="0" dirty="0">
                <a:solidFill>
                  <a:srgbClr val="10243C"/>
                </a:solidFill>
              </a:rPr>
              <a:t> </a:t>
            </a:r>
            <a:r>
              <a:rPr sz="1650" b="0" i="0" dirty="0" err="1">
                <a:solidFill>
                  <a:srgbClr val="10243C"/>
                </a:solidFill>
              </a:rPr>
              <a:t>prenotazioni</a:t>
            </a:r>
            <a:r>
              <a:rPr sz="1650" b="0" i="0" dirty="0">
                <a:solidFill>
                  <a:srgbClr val="10243C"/>
                </a:solidFill>
              </a:rPr>
              <a:t>,</a:t>
            </a:r>
            <a:r>
              <a:rPr lang="it-IT" sz="1650" b="0" i="0" dirty="0">
                <a:solidFill>
                  <a:srgbClr val="10243C"/>
                </a:solidFill>
              </a:rPr>
              <a:t>per nuovi filtri nelle</a:t>
            </a:r>
            <a:r>
              <a:rPr sz="1650" b="0" i="0" dirty="0">
                <a:solidFill>
                  <a:srgbClr val="10243C"/>
                </a:solidFill>
              </a:rPr>
              <a:t> </a:t>
            </a:r>
            <a:r>
              <a:rPr sz="1650" b="0" i="0" dirty="0" err="1">
                <a:solidFill>
                  <a:srgbClr val="10243C"/>
                </a:solidFill>
              </a:rPr>
              <a:t>campagne</a:t>
            </a:r>
            <a:r>
              <a:rPr lang="it-IT" sz="1650" b="0" i="0" dirty="0">
                <a:solidFill>
                  <a:srgbClr val="10243C"/>
                </a:solidFill>
              </a:rPr>
              <a:t> email</a:t>
            </a:r>
            <a:r>
              <a:rPr sz="1650" b="0" i="0" dirty="0">
                <a:solidFill>
                  <a:srgbClr val="10243C"/>
                </a:solidFill>
              </a:rPr>
              <a:t> e </a:t>
            </a:r>
            <a:r>
              <a:rPr lang="it-IT" sz="1650" b="0" i="0" dirty="0">
                <a:solidFill>
                  <a:srgbClr val="10243C"/>
                </a:solidFill>
              </a:rPr>
              <a:t>nuove statistiche tra i </a:t>
            </a:r>
            <a:r>
              <a:rPr sz="1650" b="0" i="0" dirty="0">
                <a:solidFill>
                  <a:srgbClr val="10243C"/>
                </a:solidFill>
              </a:rPr>
              <a:t>report. Le </a:t>
            </a:r>
            <a:r>
              <a:rPr sz="1650" b="0" i="0" dirty="0" err="1">
                <a:solidFill>
                  <a:srgbClr val="10243C"/>
                </a:solidFill>
              </a:rPr>
              <a:t>capienze</a:t>
            </a:r>
            <a:r>
              <a:rPr sz="1650" b="0" i="0" dirty="0">
                <a:solidFill>
                  <a:srgbClr val="10243C"/>
                </a:solidFill>
              </a:rPr>
              <a:t> </a:t>
            </a:r>
            <a:r>
              <a:rPr lang="it-IT" sz="1650" dirty="0">
                <a:solidFill>
                  <a:srgbClr val="10243C"/>
                </a:solidFill>
              </a:rPr>
              <a:t>possono essere controllate per ogni panel; ognuno di essi è collegato unicamente ad una location, anch’esse modificabili.</a:t>
            </a:r>
            <a:endParaRPr sz="1650" b="0" i="0" dirty="0">
              <a:solidFill>
                <a:srgbClr val="10243C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824FA57-3567-4835-9422-73B5C5F9064C}"/>
              </a:ext>
            </a:extLst>
          </p:cNvPr>
          <p:cNvSpPr>
            <a:spLocks noGrp="1"/>
          </p:cNvSpPr>
          <p:nvPr/>
        </p:nvSpPr>
        <p:spPr>
          <a:xfrm>
            <a:off x="543910" y="4819322"/>
            <a:ext cx="338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5F6F82"/>
                </a:solidFill>
              </a:defRPr>
            </a:pPr>
            <a:r>
              <a:rPr sz="1350" b="1" i="0" dirty="0">
                <a:solidFill>
                  <a:srgbClr val="5F6F82"/>
                </a:solidFill>
              </a:rPr>
              <a:t>Niente </a:t>
            </a:r>
            <a:r>
              <a:rPr sz="1350" b="1" i="0" dirty="0" err="1">
                <a:solidFill>
                  <a:srgbClr val="5F6F82"/>
                </a:solidFill>
              </a:rPr>
              <a:t>liste</a:t>
            </a:r>
            <a:r>
              <a:rPr sz="1350" b="1" i="0" dirty="0">
                <a:solidFill>
                  <a:srgbClr val="5F6F82"/>
                </a:solidFill>
              </a:rPr>
              <a:t> </a:t>
            </a:r>
            <a:r>
              <a:rPr sz="1350" b="1" i="0" dirty="0" err="1">
                <a:solidFill>
                  <a:srgbClr val="5F6F82"/>
                </a:solidFill>
              </a:rPr>
              <a:t>parallele</a:t>
            </a:r>
            <a:r>
              <a:rPr sz="1350" b="1" i="0" dirty="0">
                <a:solidFill>
                  <a:srgbClr val="5F6F82"/>
                </a:solidFill>
              </a:rPr>
              <a:t> e niente </a:t>
            </a:r>
            <a:r>
              <a:rPr sz="1350" b="1" i="0" dirty="0" err="1">
                <a:solidFill>
                  <a:srgbClr val="5F6F82"/>
                </a:solidFill>
              </a:rPr>
              <a:t>conteggi</a:t>
            </a:r>
            <a:r>
              <a:rPr sz="1350" b="1" i="0" dirty="0">
                <a:solidFill>
                  <a:srgbClr val="5F6F82"/>
                </a:solidFill>
              </a:rPr>
              <a:t> </a:t>
            </a:r>
            <a:r>
              <a:rPr sz="1350" b="1" i="0" dirty="0" err="1">
                <a:solidFill>
                  <a:srgbClr val="5F6F82"/>
                </a:solidFill>
              </a:rPr>
              <a:t>ricostruiti</a:t>
            </a:r>
            <a:r>
              <a:rPr sz="1350" b="1" i="0" dirty="0">
                <a:solidFill>
                  <a:srgbClr val="5F6F82"/>
                </a:solidFill>
              </a:rPr>
              <a:t> a mano.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BF9AB59-6938-41C0-8164-7215ACC8288F}"/>
              </a:ext>
            </a:extLst>
          </p:cNvPr>
          <p:cNvSpPr>
            <a:spLocks noGrp="1"/>
          </p:cNvSpPr>
          <p:nvPr/>
        </p:nvSpPr>
        <p:spPr>
          <a:xfrm>
            <a:off x="4438650" y="1771650"/>
            <a:ext cx="19050" cy="40386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6835013-2F8B-4739-B4F6-CBC2F3AE082A}"/>
              </a:ext>
            </a:extLst>
          </p:cNvPr>
          <p:cNvSpPr>
            <a:spLocks noGrp="1"/>
          </p:cNvSpPr>
          <p:nvPr/>
        </p:nvSpPr>
        <p:spPr>
          <a:xfrm>
            <a:off x="4857750" y="18669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01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4CCC0C0-D55A-402E-B0BE-5C85A0867E0D}"/>
              </a:ext>
            </a:extLst>
          </p:cNvPr>
          <p:cNvSpPr>
            <a:spLocks noGrp="1"/>
          </p:cNvSpPr>
          <p:nvPr/>
        </p:nvSpPr>
        <p:spPr>
          <a:xfrm>
            <a:off x="5372100" y="1847850"/>
            <a:ext cx="596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Configura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420E204-BFD0-44FD-80A5-761271216421}"/>
              </a:ext>
            </a:extLst>
          </p:cNvPr>
          <p:cNvSpPr>
            <a:spLocks noGrp="1"/>
          </p:cNvSpPr>
          <p:nvPr/>
        </p:nvSpPr>
        <p:spPr>
          <a:xfrm>
            <a:off x="5372100" y="2162175"/>
            <a:ext cx="596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Location, orari e quote per tipo di pubblico.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E84ECD3-5207-4656-A1C5-E30D6759AD8B}"/>
              </a:ext>
            </a:extLst>
          </p:cNvPr>
          <p:cNvSpPr>
            <a:spLocks noGrp="1"/>
          </p:cNvSpPr>
          <p:nvPr/>
        </p:nvSpPr>
        <p:spPr>
          <a:xfrm>
            <a:off x="4857750" y="2724150"/>
            <a:ext cx="628650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68D2F5F-15E5-4144-AE1A-EF85DE33989A}"/>
              </a:ext>
            </a:extLst>
          </p:cNvPr>
          <p:cNvSpPr>
            <a:spLocks noGrp="1"/>
          </p:cNvSpPr>
          <p:nvPr/>
        </p:nvSpPr>
        <p:spPr>
          <a:xfrm>
            <a:off x="4857750" y="2876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02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7084048-8780-4CB9-8CCF-477FDD753B4F}"/>
              </a:ext>
            </a:extLst>
          </p:cNvPr>
          <p:cNvSpPr>
            <a:spLocks noGrp="1"/>
          </p:cNvSpPr>
          <p:nvPr/>
        </p:nvSpPr>
        <p:spPr>
          <a:xfrm>
            <a:off x="5372100" y="2857500"/>
            <a:ext cx="596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Pubblica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8108B2D-35F6-4180-A9A7-26BA31631D74}"/>
              </a:ext>
            </a:extLst>
          </p:cNvPr>
          <p:cNvSpPr>
            <a:spLocks noGrp="1"/>
          </p:cNvSpPr>
          <p:nvPr/>
        </p:nvSpPr>
        <p:spPr>
          <a:xfrm>
            <a:off x="5372100" y="3171825"/>
            <a:ext cx="596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Controlli su completezza, capienza e sovrapposizioni.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EF62B78-9601-4774-AE3E-D18A093C4DF0}"/>
              </a:ext>
            </a:extLst>
          </p:cNvPr>
          <p:cNvSpPr>
            <a:spLocks noGrp="1"/>
          </p:cNvSpPr>
          <p:nvPr/>
        </p:nvSpPr>
        <p:spPr>
          <a:xfrm>
            <a:off x="4857750" y="3733800"/>
            <a:ext cx="628650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41E89F8-D25A-4D9C-968A-3901C3DA7681}"/>
              </a:ext>
            </a:extLst>
          </p:cNvPr>
          <p:cNvSpPr>
            <a:spLocks noGrp="1"/>
          </p:cNvSpPr>
          <p:nvPr/>
        </p:nvSpPr>
        <p:spPr>
          <a:xfrm>
            <a:off x="4857750" y="38862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03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D4FF886-ADF4-4B26-8930-12CAA6E18291}"/>
              </a:ext>
            </a:extLst>
          </p:cNvPr>
          <p:cNvSpPr>
            <a:spLocks noGrp="1"/>
          </p:cNvSpPr>
          <p:nvPr/>
        </p:nvSpPr>
        <p:spPr>
          <a:xfrm>
            <a:off x="5372100" y="3867150"/>
            <a:ext cx="596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Prenota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CE6856E-C4E4-49EC-AFE7-A7A8FDDEA849}"/>
              </a:ext>
            </a:extLst>
          </p:cNvPr>
          <p:cNvSpPr>
            <a:spLocks noGrp="1"/>
          </p:cNvSpPr>
          <p:nvPr/>
        </p:nvSpPr>
        <p:spPr>
          <a:xfrm>
            <a:off x="5372100" y="4181475"/>
            <a:ext cx="596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Partecipanti e classi usano quote dedicate e atomiche.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1FC4EC6-6711-4025-8B19-F7A277DE1F51}"/>
              </a:ext>
            </a:extLst>
          </p:cNvPr>
          <p:cNvSpPr>
            <a:spLocks noGrp="1"/>
          </p:cNvSpPr>
          <p:nvPr/>
        </p:nvSpPr>
        <p:spPr>
          <a:xfrm>
            <a:off x="4857750" y="4743450"/>
            <a:ext cx="628650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C29F9B9-2B3D-4B50-92A0-DF30FE429701}"/>
              </a:ext>
            </a:extLst>
          </p:cNvPr>
          <p:cNvSpPr>
            <a:spLocks noGrp="1"/>
          </p:cNvSpPr>
          <p:nvPr/>
        </p:nvSpPr>
        <p:spPr>
          <a:xfrm>
            <a:off x="4857750" y="48958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04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4FA3391-43F0-4030-8079-8B652C5FD0B6}"/>
              </a:ext>
            </a:extLst>
          </p:cNvPr>
          <p:cNvSpPr>
            <a:spLocks noGrp="1"/>
          </p:cNvSpPr>
          <p:nvPr/>
        </p:nvSpPr>
        <p:spPr>
          <a:xfrm>
            <a:off x="5372100" y="4876800"/>
            <a:ext cx="596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Comunica e misura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3EED91C-C589-4C0C-A37C-AA258BC2C6BC}"/>
              </a:ext>
            </a:extLst>
          </p:cNvPr>
          <p:cNvSpPr>
            <a:spLocks noGrp="1"/>
          </p:cNvSpPr>
          <p:nvPr/>
        </p:nvSpPr>
        <p:spPr>
          <a:xfrm>
            <a:off x="5372100" y="5191125"/>
            <a:ext cx="596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Audience per panel, professori e report dei posti residui.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CE331C27-A3BC-41E7-9A71-91FD71E53612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C9464F9-DE7E-4ED8-BF5A-4849BA01A393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4DA6B3C1-003B-4D87-9FA1-E57C9C8C962F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5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Area manager">
            <a:extLst>
              <a:ext uri="{FF2B5EF4-FFF2-40B4-BE49-F238E27FC236}">
                <a16:creationId xmlns:a16="http://schemas.microsoft.com/office/drawing/2014/main" id="{0422367B-63BD-4548-8B8A-CDB407EFBD62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AREA MANAGER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7A10AE-3D47-4377-8A71-AB316CADA6FA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Un nuovo menu raccoglie tutto il lavoro sui panel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B6F636A-EC47-40BB-B451-D093EDBDDF03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F6F82"/>
                </a:solidFill>
              </a:defRPr>
            </a:pPr>
            <a:r>
              <a:rPr sz="1350" b="0" i="0" dirty="0">
                <a:solidFill>
                  <a:srgbClr val="5F6F82"/>
                </a:solidFill>
              </a:rPr>
              <a:t>La </a:t>
            </a:r>
            <a:r>
              <a:rPr sz="1350" b="0" i="0" dirty="0" err="1">
                <a:solidFill>
                  <a:srgbClr val="5F6F82"/>
                </a:solidFill>
              </a:rPr>
              <a:t>sezione</a:t>
            </a:r>
            <a:r>
              <a:rPr sz="1350" b="0" i="0" dirty="0">
                <a:solidFill>
                  <a:srgbClr val="5F6F82"/>
                </a:solidFill>
              </a:rPr>
              <a:t> Panel </a:t>
            </a:r>
            <a:r>
              <a:rPr sz="1350" b="0" i="0" dirty="0" err="1">
                <a:solidFill>
                  <a:srgbClr val="5F6F82"/>
                </a:solidFill>
              </a:rPr>
              <a:t>apre</a:t>
            </a:r>
            <a:r>
              <a:rPr sz="1350" b="0" i="0" dirty="0">
                <a:solidFill>
                  <a:srgbClr val="5F6F82"/>
                </a:solidFill>
              </a:rPr>
              <a:t> </a:t>
            </a:r>
            <a:r>
              <a:rPr sz="1350" b="0" i="0" dirty="0" err="1">
                <a:solidFill>
                  <a:srgbClr val="5F6F82"/>
                </a:solidFill>
              </a:rPr>
              <a:t>tre</a:t>
            </a:r>
            <a:r>
              <a:rPr sz="1350" b="0" i="0" dirty="0">
                <a:solidFill>
                  <a:srgbClr val="5F6F82"/>
                </a:solidFill>
              </a:rPr>
              <a:t> </a:t>
            </a:r>
            <a:r>
              <a:rPr sz="1350" b="0" i="0" dirty="0" err="1">
                <a:solidFill>
                  <a:srgbClr val="5F6F82"/>
                </a:solidFill>
              </a:rPr>
              <a:t>viste</a:t>
            </a:r>
            <a:r>
              <a:rPr sz="1350" b="0" i="0" dirty="0">
                <a:solidFill>
                  <a:srgbClr val="5F6F82"/>
                </a:solidFill>
              </a:rPr>
              <a:t> </a:t>
            </a:r>
            <a:r>
              <a:rPr sz="1350" b="0" i="0" dirty="0" err="1">
                <a:solidFill>
                  <a:srgbClr val="5F6F82"/>
                </a:solidFill>
              </a:rPr>
              <a:t>coerenti</a:t>
            </a:r>
            <a:r>
              <a:rPr sz="1350" b="0" i="0" dirty="0">
                <a:solidFill>
                  <a:srgbClr val="5F6F82"/>
                </a:solidFill>
              </a:rPr>
              <a:t> — Location, Panel e </a:t>
            </a:r>
            <a:r>
              <a:rPr sz="1350" b="0" i="0" dirty="0" err="1">
                <a:solidFill>
                  <a:srgbClr val="5F6F82"/>
                </a:solidFill>
              </a:rPr>
              <a:t>Scuole</a:t>
            </a:r>
            <a:r>
              <a:rPr lang="it-IT" sz="1350" b="0" i="0" dirty="0">
                <a:solidFill>
                  <a:srgbClr val="5F6F82"/>
                </a:solidFill>
              </a:rPr>
              <a:t>(che in futuro potremmo spostare)</a:t>
            </a:r>
            <a:r>
              <a:rPr sz="1350" b="0" i="0" dirty="0">
                <a:solidFill>
                  <a:srgbClr val="5F6F82"/>
                </a:solidFill>
              </a:rPr>
              <a:t> — e </a:t>
            </a:r>
            <a:r>
              <a:rPr sz="1350" b="0" i="0" dirty="0" err="1">
                <a:solidFill>
                  <a:srgbClr val="5F6F82"/>
                </a:solidFill>
              </a:rPr>
              <a:t>mantiene</a:t>
            </a:r>
            <a:r>
              <a:rPr sz="1350" b="0" i="0" dirty="0">
                <a:solidFill>
                  <a:srgbClr val="5F6F82"/>
                </a:solidFill>
              </a:rPr>
              <a:t> </a:t>
            </a:r>
            <a:r>
              <a:rPr sz="1350" b="0" i="0" dirty="0" err="1">
                <a:solidFill>
                  <a:srgbClr val="5F6F82"/>
                </a:solidFill>
              </a:rPr>
              <a:t>ricerca</a:t>
            </a:r>
            <a:r>
              <a:rPr sz="1350" b="0" i="0" dirty="0">
                <a:solidFill>
                  <a:srgbClr val="5F6F82"/>
                </a:solidFill>
              </a:rPr>
              <a:t>, </a:t>
            </a:r>
            <a:r>
              <a:rPr sz="1350" b="0" i="0" dirty="0" err="1">
                <a:solidFill>
                  <a:srgbClr val="5F6F82"/>
                </a:solidFill>
              </a:rPr>
              <a:t>filtri</a:t>
            </a:r>
            <a:r>
              <a:rPr sz="1350" b="0" i="0" dirty="0">
                <a:solidFill>
                  <a:srgbClr val="5F6F82"/>
                </a:solidFill>
              </a:rPr>
              <a:t> e menu </a:t>
            </a:r>
            <a:r>
              <a:rPr sz="1350" b="0" i="0" dirty="0" err="1">
                <a:solidFill>
                  <a:srgbClr val="5F6F82"/>
                </a:solidFill>
              </a:rPr>
              <a:t>compatto</a:t>
            </a:r>
            <a:r>
              <a:rPr sz="1350" b="0" i="0" dirty="0">
                <a:solidFill>
                  <a:srgbClr val="5F6F82"/>
                </a:solidFill>
              </a:rPr>
              <a:t>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8ED89E0-1B60-486A-9502-5666108C6149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11010900" cy="44005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3"/>
          <a:srcRect t="14475" b="14475"/>
          <a:stretch>
            <a:fillRect/>
          </a:stretch>
        </p:blipFill>
        <p:spPr>
          <a:xfrm>
            <a:off x="590550" y="1733550"/>
            <a:ext cx="11010900" cy="4400550"/>
          </a:xfrm>
          <a:prstGeom prst="roundRect">
            <a:avLst>
              <a:gd name="adj" fmla="val 3030"/>
            </a:avLst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6CC5C2A8-0984-4657-9430-5D40EE9A5912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4F24238-9934-4110-A378-0E032EF314A4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7008644-E5DC-4E46-A593-76ED46CA49FD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870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-Creazione e pubblicazione">
            <a:extLst>
              <a:ext uri="{FF2B5EF4-FFF2-40B4-BE49-F238E27FC236}">
                <a16:creationId xmlns:a16="http://schemas.microsoft.com/office/drawing/2014/main" id="{0B5748EB-868F-4189-B261-F8567112BA45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CREAZIONE E PUBBLICAZIONE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CC8940F-D94B-44C8-9DD9-151B8C7F82DB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Bozze e pubblicazione restano sotto controllo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62A4D46-D99A-4E11-BA13-86132094272F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F6F82"/>
                </a:solidFill>
              </a:defRPr>
            </a:pPr>
            <a:r>
              <a:rPr sz="1350" b="0" i="0">
                <a:solidFill>
                  <a:srgbClr val="5F6F82"/>
                </a:solidFill>
              </a:rPr>
              <a:t>I dati possono essere completati per passi; la pubblicazione è consentita solo quando le regole sono rispettate.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8184B81-C564-4EB0-A838-92E5B1242D72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52197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19" name="Immagine 18"/>
          <p:cNvPicPr>
            <a:picLocks noChangeAspect="1"/>
          </p:cNvPicPr>
          <p:nvPr/>
        </p:nvPicPr>
        <p:blipFill>
          <a:blip r:embed="rId3"/>
          <a:srcRect l="9043" r="9043"/>
          <a:stretch>
            <a:fillRect/>
          </a:stretch>
        </p:blipFill>
        <p:spPr>
          <a:xfrm>
            <a:off x="590550" y="1809750"/>
            <a:ext cx="5219700" cy="2857500"/>
          </a:xfrm>
          <a:prstGeom prst="roundRect">
            <a:avLst>
              <a:gd name="adj" fmla="val 4667"/>
            </a:avLst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8005A2C-F9C0-46AD-A3AC-0C98E3FCF77B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52197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4"/>
          <a:srcRect t="1338" b="1338"/>
          <a:stretch>
            <a:fillRect/>
          </a:stretch>
        </p:blipFill>
        <p:spPr>
          <a:xfrm>
            <a:off x="6381750" y="1809750"/>
            <a:ext cx="5219700" cy="2857500"/>
          </a:xfrm>
          <a:prstGeom prst="roundRect">
            <a:avLst>
              <a:gd name="adj" fmla="val 4667"/>
            </a:avLst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FD513E2-80F8-496F-A1DD-7F3BF5ACD5B2}"/>
              </a:ext>
            </a:extLst>
          </p:cNvPr>
          <p:cNvSpPr>
            <a:spLocks noGrp="1"/>
          </p:cNvSpPr>
          <p:nvPr/>
        </p:nvSpPr>
        <p:spPr>
          <a:xfrm>
            <a:off x="590550" y="4876800"/>
            <a:ext cx="521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Contenuto e orari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415E36D-A604-4843-8DFE-964FC8E3E12C}"/>
              </a:ext>
            </a:extLst>
          </p:cNvPr>
          <p:cNvSpPr>
            <a:spLocks noGrp="1"/>
          </p:cNvSpPr>
          <p:nvPr/>
        </p:nvSpPr>
        <p:spPr>
          <a:xfrm>
            <a:off x="590550" y="5219700"/>
            <a:ext cx="5219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lang="it-IT" sz="1275" b="0" i="0" dirty="0">
                <a:solidFill>
                  <a:srgbClr val="5F6F82"/>
                </a:solidFill>
              </a:rPr>
              <a:t>Possibilità di decidere: </a:t>
            </a:r>
            <a:r>
              <a:rPr lang="it-IT" sz="1275" dirty="0">
                <a:solidFill>
                  <a:srgbClr val="5F6F82"/>
                </a:solidFill>
              </a:rPr>
              <a:t>t</a:t>
            </a:r>
            <a:r>
              <a:rPr sz="1275" b="0" i="0" dirty="0" err="1">
                <a:solidFill>
                  <a:srgbClr val="5F6F82"/>
                </a:solidFill>
              </a:rPr>
              <a:t>itolo</a:t>
            </a:r>
            <a:r>
              <a:rPr sz="1275" b="0" i="0" dirty="0">
                <a:solidFill>
                  <a:srgbClr val="5F6F82"/>
                </a:solidFill>
              </a:rPr>
              <a:t>, </a:t>
            </a:r>
            <a:r>
              <a:rPr sz="1275" b="0" i="0" dirty="0" err="1">
                <a:solidFill>
                  <a:srgbClr val="5F6F82"/>
                </a:solidFill>
              </a:rPr>
              <a:t>descrizione</a:t>
            </a:r>
            <a:r>
              <a:rPr sz="1275" b="0" i="0" dirty="0">
                <a:solidFill>
                  <a:srgbClr val="5F6F82"/>
                </a:solidFill>
              </a:rPr>
              <a:t>, fascia</a:t>
            </a:r>
            <a:r>
              <a:rPr lang="it-IT" sz="1275" b="0" i="0" dirty="0">
                <a:solidFill>
                  <a:srgbClr val="5F6F82"/>
                </a:solidFill>
              </a:rPr>
              <a:t> oraria</a:t>
            </a:r>
            <a:r>
              <a:rPr sz="1275" b="0" i="0" dirty="0">
                <a:solidFill>
                  <a:srgbClr val="5F6F82"/>
                </a:solidFill>
              </a:rPr>
              <a:t> e location. I </a:t>
            </a:r>
            <a:r>
              <a:rPr sz="1275" b="0" i="0" dirty="0" err="1">
                <a:solidFill>
                  <a:srgbClr val="5F6F82"/>
                </a:solidFill>
              </a:rPr>
              <a:t>conflitti</a:t>
            </a:r>
            <a:r>
              <a:rPr lang="it-IT" sz="1275" dirty="0">
                <a:solidFill>
                  <a:srgbClr val="5F6F82"/>
                </a:solidFill>
              </a:rPr>
              <a:t> di panel nella stessa sala allo stesso orario vengono bloccati</a:t>
            </a:r>
            <a:endParaRPr sz="1275" b="0" i="0" dirty="0">
              <a:solidFill>
                <a:srgbClr val="5F6F82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56B99D1-D5E1-4E0E-B93F-80A4EE88127E}"/>
              </a:ext>
            </a:extLst>
          </p:cNvPr>
          <p:cNvSpPr>
            <a:spLocks noGrp="1"/>
          </p:cNvSpPr>
          <p:nvPr/>
        </p:nvSpPr>
        <p:spPr>
          <a:xfrm>
            <a:off x="6381750" y="4876800"/>
            <a:ext cx="521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lang="it-IT" sz="1725" b="1" dirty="0">
                <a:solidFill>
                  <a:srgbClr val="10243C"/>
                </a:solidFill>
              </a:rPr>
              <a:t>Posti per tipo di pubblico</a:t>
            </a:r>
            <a:r>
              <a:rPr sz="1725" b="1" i="0" dirty="0">
                <a:solidFill>
                  <a:srgbClr val="10243C"/>
                </a:solidFill>
              </a:rPr>
              <a:t> e </a:t>
            </a:r>
            <a:r>
              <a:rPr sz="1725" b="1" i="0" dirty="0" err="1">
                <a:solidFill>
                  <a:srgbClr val="10243C"/>
                </a:solidFill>
              </a:rPr>
              <a:t>capienza</a:t>
            </a:r>
            <a:endParaRPr sz="1725" b="1" i="0" dirty="0">
              <a:solidFill>
                <a:srgbClr val="10243C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5C00450-B7EC-4B4D-BBAF-ABFBA94FE0CB}"/>
              </a:ext>
            </a:extLst>
          </p:cNvPr>
          <p:cNvSpPr>
            <a:spLocks noGrp="1"/>
          </p:cNvSpPr>
          <p:nvPr/>
        </p:nvSpPr>
        <p:spPr>
          <a:xfrm>
            <a:off x="6381750" y="5219700"/>
            <a:ext cx="5219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lang="it-IT" sz="1275" b="0" i="0" dirty="0">
                <a:solidFill>
                  <a:srgbClr val="5F6F82"/>
                </a:solidFill>
              </a:rPr>
              <a:t>I vari tipi di pubblico possono avere</a:t>
            </a:r>
            <a:r>
              <a:rPr sz="1275" b="0" i="0" dirty="0">
                <a:solidFill>
                  <a:srgbClr val="5F6F82"/>
                </a:solidFill>
              </a:rPr>
              <a:t> quote </a:t>
            </a:r>
            <a:r>
              <a:rPr sz="1275" b="0" i="0" dirty="0" err="1">
                <a:solidFill>
                  <a:srgbClr val="5F6F82"/>
                </a:solidFill>
              </a:rPr>
              <a:t>distinte</a:t>
            </a:r>
            <a:r>
              <a:rPr lang="it-IT" sz="1275" b="0" i="0" dirty="0">
                <a:solidFill>
                  <a:srgbClr val="5F6F82"/>
                </a:solidFill>
              </a:rPr>
              <a:t> nella capienza totale</a:t>
            </a:r>
            <a:r>
              <a:rPr sz="1275" b="0" i="0" dirty="0">
                <a:solidFill>
                  <a:srgbClr val="5F6F82"/>
                </a:solidFill>
              </a:rPr>
              <a:t>. Il </a:t>
            </a:r>
            <a:r>
              <a:rPr sz="1275" b="0" i="0" dirty="0" err="1">
                <a:solidFill>
                  <a:srgbClr val="5F6F82"/>
                </a:solidFill>
              </a:rPr>
              <a:t>totale</a:t>
            </a:r>
            <a:r>
              <a:rPr sz="1275" b="0" i="0" dirty="0">
                <a:solidFill>
                  <a:srgbClr val="5F6F82"/>
                </a:solidFill>
              </a:rPr>
              <a:t> non </a:t>
            </a:r>
            <a:r>
              <a:rPr sz="1275" b="0" i="0" dirty="0" err="1">
                <a:solidFill>
                  <a:srgbClr val="5F6F82"/>
                </a:solidFill>
              </a:rPr>
              <a:t>può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sz="1275" b="0" i="0" dirty="0" err="1">
                <a:solidFill>
                  <a:srgbClr val="5F6F82"/>
                </a:solidFill>
              </a:rPr>
              <a:t>superare</a:t>
            </a:r>
            <a:r>
              <a:rPr sz="1275" b="0" i="0" dirty="0">
                <a:solidFill>
                  <a:srgbClr val="5F6F82"/>
                </a:solidFill>
              </a:rPr>
              <a:t> la</a:t>
            </a:r>
            <a:r>
              <a:rPr lang="it-IT" sz="1275" b="0" i="0" dirty="0">
                <a:solidFill>
                  <a:srgbClr val="5F6F82"/>
                </a:solidFill>
              </a:rPr>
              <a:t> capienza della</a:t>
            </a:r>
            <a:r>
              <a:rPr sz="1275" b="0" i="0" dirty="0">
                <a:solidFill>
                  <a:srgbClr val="5F6F82"/>
                </a:solidFill>
              </a:rPr>
              <a:t> sala</a:t>
            </a:r>
            <a:r>
              <a:rPr lang="it-IT" sz="1275" b="0" i="0" dirty="0">
                <a:solidFill>
                  <a:srgbClr val="5F6F82"/>
                </a:solidFill>
              </a:rPr>
              <a:t>, ma non deve per forza raggiungerla.</a:t>
            </a:r>
            <a:endParaRPr sz="1275" b="0" i="0" dirty="0">
              <a:solidFill>
                <a:srgbClr val="5F6F82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FAFB0C1-E3CE-443E-8813-DDA0527CD153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153FEC2-247E-48DC-95C1-E098CD87013E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747E34A-EB59-413B-80AE-4E4EC4578BC8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189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-Location e capienza">
            <a:extLst>
              <a:ext uri="{FF2B5EF4-FFF2-40B4-BE49-F238E27FC236}">
                <a16:creationId xmlns:a16="http://schemas.microsoft.com/office/drawing/2014/main" id="{19A6ED95-E637-4782-BC28-1B94105017DF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LOCATION E CAPIENZA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50FF3B1-CEB7-40F2-B92D-5FA0C9D8EFC3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Le location diventano vincoli operativi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5D36B76-A725-4109-A692-A1D43FE98915}"/>
              </a:ext>
            </a:extLst>
          </p:cNvPr>
          <p:cNvSpPr>
            <a:spLocks noGrp="1"/>
          </p:cNvSpPr>
          <p:nvPr/>
        </p:nvSpPr>
        <p:spPr>
          <a:xfrm>
            <a:off x="590550" y="1504950"/>
            <a:ext cx="369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82F5F"/>
                </a:solidFill>
              </a:defRPr>
            </a:pPr>
            <a:r>
              <a:rPr sz="1725" b="1" i="0">
                <a:solidFill>
                  <a:srgbClr val="082F5F"/>
                </a:solidFill>
              </a:rPr>
              <a:t>Ogni sala ha una capienza fisica e può ospitare un solo panel nella stessa fascia.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7EC6047-8E40-4DF0-AFA2-3E4FFA3F97AC}"/>
              </a:ext>
            </a:extLst>
          </p:cNvPr>
          <p:cNvSpPr>
            <a:spLocks noGrp="1"/>
          </p:cNvSpPr>
          <p:nvPr/>
        </p:nvSpPr>
        <p:spPr>
          <a:xfrm>
            <a:off x="590550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28B8B26-A64C-4FFA-AA9C-1492C56229D8}"/>
              </a:ext>
            </a:extLst>
          </p:cNvPr>
          <p:cNvSpPr>
            <a:spLocks noGrp="1"/>
          </p:cNvSpPr>
          <p:nvPr/>
        </p:nvSpPr>
        <p:spPr>
          <a:xfrm>
            <a:off x="1104900" y="262890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Dati essenziali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D49F5FF-5E3B-470C-9F2D-BBC70C1CACFF}"/>
              </a:ext>
            </a:extLst>
          </p:cNvPr>
          <p:cNvSpPr>
            <a:spLocks noGrp="1"/>
          </p:cNvSpPr>
          <p:nvPr/>
        </p:nvSpPr>
        <p:spPr>
          <a:xfrm>
            <a:off x="1104900" y="2943225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Nome, indirizzo, capienza massima e stato attivo.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1161E47-6E12-43C1-9031-0BD642572C92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02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E683A2E-937D-45AF-BD70-93A6CF1C5031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Impatto visibile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F422A1F-8675-4FED-8BA1-82F6CB7D1C26}"/>
              </a:ext>
            </a:extLst>
          </p:cNvPr>
          <p:cNvSpPr>
            <a:spLocks noGrp="1"/>
          </p:cNvSpPr>
          <p:nvPr/>
        </p:nvSpPr>
        <p:spPr>
          <a:xfrm>
            <a:off x="1104900" y="4029075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La tabella mostra subito quali panel usano ogni sala.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D57A9B6-CA8D-4382-9B73-9B2E319DE7E6}"/>
              </a:ext>
            </a:extLst>
          </p:cNvPr>
          <p:cNvSpPr>
            <a:spLocks noGrp="1"/>
          </p:cNvSpPr>
          <p:nvPr/>
        </p:nvSpPr>
        <p:spPr>
          <a:xfrm>
            <a:off x="590550" y="48196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03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AD7D03D-5829-47CA-8206-170CFBB31854}"/>
              </a:ext>
            </a:extLst>
          </p:cNvPr>
          <p:cNvSpPr>
            <a:spLocks noGrp="1"/>
          </p:cNvSpPr>
          <p:nvPr/>
        </p:nvSpPr>
        <p:spPr>
          <a:xfrm>
            <a:off x="1104900" y="480060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Modifiche protette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D92F90E-B15A-48A5-8675-DE194B1BBB02}"/>
              </a:ext>
            </a:extLst>
          </p:cNvPr>
          <p:cNvSpPr>
            <a:spLocks noGrp="1"/>
          </p:cNvSpPr>
          <p:nvPr/>
        </p:nvSpPr>
        <p:spPr>
          <a:xfrm>
            <a:off x="1104900" y="5114925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Non è possibile rendere incoerenti panel già pubblicati.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8116DBB-4372-4395-B186-BC9E2F593DF5}"/>
              </a:ext>
            </a:extLst>
          </p:cNvPr>
          <p:cNvSpPr>
            <a:spLocks noGrp="1"/>
          </p:cNvSpPr>
          <p:nvPr/>
        </p:nvSpPr>
        <p:spPr>
          <a:xfrm>
            <a:off x="4762500" y="1504950"/>
            <a:ext cx="6838950" cy="43434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31" name="Immagine 30"/>
          <p:cNvPicPr>
            <a:picLocks noChangeAspect="1"/>
          </p:cNvPicPr>
          <p:nvPr/>
        </p:nvPicPr>
        <p:blipFill>
          <a:blip r:embed="rId3"/>
          <a:srcRect l="5715" r="5715"/>
          <a:stretch>
            <a:fillRect/>
          </a:stretch>
        </p:blipFill>
        <p:spPr>
          <a:xfrm>
            <a:off x="4762500" y="1504950"/>
            <a:ext cx="6838950" cy="4343400"/>
          </a:xfrm>
          <a:prstGeom prst="roundRect">
            <a:avLst>
              <a:gd name="adj" fmla="val 3070"/>
            </a:avLst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414C29F0-1724-47E5-9EAA-C6A0C531B1FC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F9DC9FE-056A-46F6-99C2-A058CE665251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F8441AA-43CE-4DB2-AB2A-5F8698083F3E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22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Esperienza partecipante">
            <a:extLst>
              <a:ext uri="{FF2B5EF4-FFF2-40B4-BE49-F238E27FC236}">
                <a16:creationId xmlns:a16="http://schemas.microsoft.com/office/drawing/2014/main" id="{5821900B-5CDA-45CC-A4DA-71FE8FFE1DF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ESPERIENZA PARTECIPANTE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0B96438-4AE8-4C9B-AA61-7B22855B2B2D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Dal programma pubblico alla prenotazione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EDE2F53-3D53-4018-8D32-C1A03292DA98}"/>
              </a:ext>
            </a:extLst>
          </p:cNvPr>
          <p:cNvSpPr>
            <a:spLocks noGrp="1"/>
          </p:cNvSpPr>
          <p:nvPr/>
        </p:nvSpPr>
        <p:spPr>
          <a:xfrm>
            <a:off x="590550" y="1504950"/>
            <a:ext cx="5219700" cy="29337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19" name="Immagine 18"/>
          <p:cNvPicPr>
            <a:picLocks noChangeAspect="1"/>
          </p:cNvPicPr>
          <p:nvPr/>
        </p:nvPicPr>
        <p:blipFill>
          <a:blip r:embed="rId3"/>
          <a:srcRect t="41" b="41"/>
          <a:stretch>
            <a:fillRect/>
          </a:stretch>
        </p:blipFill>
        <p:spPr>
          <a:xfrm>
            <a:off x="590550" y="1504950"/>
            <a:ext cx="5219700" cy="2933700"/>
          </a:xfrm>
          <a:prstGeom prst="roundRect">
            <a:avLst>
              <a:gd name="adj" fmla="val 4545"/>
            </a:avLst>
          </a:prstGeom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D1EA616-022E-44DD-BDB9-760EE7F50948}"/>
              </a:ext>
            </a:extLst>
          </p:cNvPr>
          <p:cNvSpPr>
            <a:spLocks noGrp="1"/>
          </p:cNvSpPr>
          <p:nvPr/>
        </p:nvSpPr>
        <p:spPr>
          <a:xfrm>
            <a:off x="6381750" y="1504950"/>
            <a:ext cx="5219700" cy="29337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4"/>
          <a:srcRect t="41" b="41"/>
          <a:stretch>
            <a:fillRect/>
          </a:stretch>
        </p:blipFill>
        <p:spPr>
          <a:xfrm>
            <a:off x="6381750" y="1504950"/>
            <a:ext cx="5219700" cy="2933700"/>
          </a:xfrm>
          <a:prstGeom prst="roundRect">
            <a:avLst>
              <a:gd name="adj" fmla="val 4545"/>
            </a:avLst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C46E917F-45CC-4166-AA6C-0F55C6C60F6E}"/>
              </a:ext>
            </a:extLst>
          </p:cNvPr>
          <p:cNvSpPr>
            <a:spLocks noGrp="1"/>
          </p:cNvSpPr>
          <p:nvPr/>
        </p:nvSpPr>
        <p:spPr>
          <a:xfrm>
            <a:off x="590550" y="46672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0B4F8F"/>
                </a:solidFill>
              </a:defRPr>
            </a:pPr>
            <a:r>
              <a:rPr sz="1800" b="1" i="0" dirty="0">
                <a:solidFill>
                  <a:srgbClr val="0B4F8F"/>
                </a:solidFill>
              </a:rPr>
              <a:t>1 · </a:t>
            </a:r>
            <a:r>
              <a:rPr lang="it-IT" sz="1800" b="1" i="0" dirty="0">
                <a:solidFill>
                  <a:srgbClr val="0B4F8F"/>
                </a:solidFill>
              </a:rPr>
              <a:t>Nella home l’utente scopre i panel</a:t>
            </a:r>
            <a:endParaRPr sz="1800" b="1" i="0" dirty="0">
              <a:solidFill>
                <a:srgbClr val="0B4F8F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10C5867-4D24-4DFB-9777-E772E5327648}"/>
              </a:ext>
            </a:extLst>
          </p:cNvPr>
          <p:cNvSpPr>
            <a:spLocks noGrp="1"/>
          </p:cNvSpPr>
          <p:nvPr/>
        </p:nvSpPr>
        <p:spPr>
          <a:xfrm>
            <a:off x="590550" y="5029200"/>
            <a:ext cx="521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F6F82"/>
                </a:solidFill>
              </a:defRPr>
            </a:pPr>
            <a:r>
              <a:rPr sz="1350" b="0" i="0">
                <a:solidFill>
                  <a:srgbClr val="5F6F82"/>
                </a:solidFill>
              </a:rPr>
              <a:t>Solo panel pubblicati, raggruppati per giorno con orario, luogo e disponibilità.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019E624-CE9F-4DD0-BCB2-590C22B91021}"/>
              </a:ext>
            </a:extLst>
          </p:cNvPr>
          <p:cNvSpPr>
            <a:spLocks noGrp="1"/>
          </p:cNvSpPr>
          <p:nvPr/>
        </p:nvSpPr>
        <p:spPr>
          <a:xfrm>
            <a:off x="6381750" y="46672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0B4F8F"/>
                </a:solidFill>
              </a:defRPr>
            </a:pPr>
            <a:r>
              <a:rPr sz="1800" b="1" i="0" dirty="0">
                <a:solidFill>
                  <a:srgbClr val="0B4F8F"/>
                </a:solidFill>
              </a:rPr>
              <a:t>2 · </a:t>
            </a:r>
            <a:r>
              <a:rPr lang="it-IT" b="1" dirty="0">
                <a:solidFill>
                  <a:srgbClr val="0B4F8F"/>
                </a:solidFill>
              </a:rPr>
              <a:t>Accedendo, si può effettuare la prenotazione </a:t>
            </a:r>
            <a:endParaRPr sz="1800" b="1" i="0" dirty="0">
              <a:solidFill>
                <a:srgbClr val="0B4F8F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C72C700-77E8-4FF3-A199-2279006E2044}"/>
              </a:ext>
            </a:extLst>
          </p:cNvPr>
          <p:cNvSpPr>
            <a:spLocks noGrp="1"/>
          </p:cNvSpPr>
          <p:nvPr/>
        </p:nvSpPr>
        <p:spPr>
          <a:xfrm>
            <a:off x="6381750" y="5029200"/>
            <a:ext cx="521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F6F82"/>
                </a:solidFill>
              </a:defRPr>
            </a:pPr>
            <a:r>
              <a:rPr sz="1350" b="0" i="0" dirty="0">
                <a:solidFill>
                  <a:srgbClr val="5F6F82"/>
                </a:solidFill>
              </a:rPr>
              <a:t>Con</a:t>
            </a:r>
            <a:r>
              <a:rPr lang="it-IT" sz="1350" b="0" i="0" dirty="0">
                <a:solidFill>
                  <a:srgbClr val="5F6F82"/>
                </a:solidFill>
              </a:rPr>
              <a:t>ferma o cancella una prenotazione </a:t>
            </a:r>
            <a:r>
              <a:rPr sz="1350" b="0" i="0" dirty="0" err="1">
                <a:solidFill>
                  <a:srgbClr val="5F6F82"/>
                </a:solidFill>
              </a:rPr>
              <a:t>dalla</a:t>
            </a:r>
            <a:r>
              <a:rPr sz="1350" b="0" i="0" dirty="0">
                <a:solidFill>
                  <a:srgbClr val="5F6F82"/>
                </a:solidFill>
              </a:rPr>
              <a:t> </a:t>
            </a:r>
            <a:r>
              <a:rPr lang="it-IT" sz="1350" dirty="0">
                <a:solidFill>
                  <a:srgbClr val="5F6F82"/>
                </a:solidFill>
              </a:rPr>
              <a:t>propria iscrizione personale</a:t>
            </a:r>
            <a:r>
              <a:rPr sz="1350" b="0" i="0" dirty="0">
                <a:solidFill>
                  <a:srgbClr val="5F6F82"/>
                </a:solidFill>
              </a:rPr>
              <a:t>; </a:t>
            </a:r>
            <a:r>
              <a:rPr sz="1350" b="0" i="0" dirty="0" err="1">
                <a:solidFill>
                  <a:srgbClr val="5F6F82"/>
                </a:solidFill>
              </a:rPr>
              <a:t>capienza</a:t>
            </a:r>
            <a:r>
              <a:rPr sz="1350" b="0" i="0" dirty="0">
                <a:solidFill>
                  <a:srgbClr val="5F6F82"/>
                </a:solidFill>
              </a:rPr>
              <a:t> e </a:t>
            </a:r>
            <a:r>
              <a:rPr sz="1350" b="0" i="0" dirty="0" err="1">
                <a:solidFill>
                  <a:srgbClr val="5F6F82"/>
                </a:solidFill>
              </a:rPr>
              <a:t>sovrapposizioni</a:t>
            </a:r>
            <a:r>
              <a:rPr sz="1350" b="0" i="0" dirty="0">
                <a:solidFill>
                  <a:srgbClr val="5F6F82"/>
                </a:solidFill>
              </a:rPr>
              <a:t> </a:t>
            </a:r>
            <a:r>
              <a:rPr sz="1350" b="0" i="0" dirty="0" err="1">
                <a:solidFill>
                  <a:srgbClr val="5F6F82"/>
                </a:solidFill>
              </a:rPr>
              <a:t>vengono</a:t>
            </a:r>
            <a:r>
              <a:rPr sz="1350" b="0" i="0" dirty="0">
                <a:solidFill>
                  <a:srgbClr val="5F6F82"/>
                </a:solidFill>
              </a:rPr>
              <a:t> </a:t>
            </a:r>
            <a:r>
              <a:rPr sz="1350" b="0" i="0" dirty="0" err="1">
                <a:solidFill>
                  <a:srgbClr val="5F6F82"/>
                </a:solidFill>
              </a:rPr>
              <a:t>ricontrollate</a:t>
            </a:r>
            <a:r>
              <a:rPr sz="1350" b="0" i="0" dirty="0">
                <a:solidFill>
                  <a:srgbClr val="5F6F82"/>
                </a:solidFill>
              </a:rPr>
              <a:t> al click.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890CEB6-E599-4FD8-B631-D1F1CFB6EFC2}"/>
              </a:ext>
            </a:extLst>
          </p:cNvPr>
          <p:cNvSpPr>
            <a:spLocks noGrp="1"/>
          </p:cNvSpPr>
          <p:nvPr/>
        </p:nvSpPr>
        <p:spPr>
          <a:xfrm>
            <a:off x="590550" y="5829300"/>
            <a:ext cx="11010900" cy="361950"/>
          </a:xfrm>
          <a:prstGeom prst="roundRect">
            <a:avLst>
              <a:gd name="adj" fmla="val 26316"/>
            </a:avLst>
          </a:prstGeom>
          <a:solidFill>
            <a:srgbClr val="E8F8FE"/>
          </a:solidFill>
          <a:ln w="0">
            <a:noFill/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F22F4B0-0FE9-42F6-A516-8C20955D9672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62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082F5F"/>
                </a:solidFill>
              </a:defRPr>
            </a:pPr>
            <a:r>
              <a:rPr sz="1200" b="1" i="0" dirty="0">
                <a:solidFill>
                  <a:srgbClr val="082F5F"/>
                </a:solidFill>
              </a:rPr>
              <a:t>La </a:t>
            </a:r>
            <a:r>
              <a:rPr sz="1200" b="1" i="0" dirty="0" err="1">
                <a:solidFill>
                  <a:srgbClr val="082F5F"/>
                </a:solidFill>
              </a:rPr>
              <a:t>scelta</a:t>
            </a:r>
            <a:r>
              <a:rPr sz="1200" b="1" i="0" dirty="0">
                <a:solidFill>
                  <a:srgbClr val="082F5F"/>
                </a:solidFill>
              </a:rPr>
              <a:t> vale </a:t>
            </a:r>
            <a:r>
              <a:rPr sz="1200" b="1" i="0" dirty="0" err="1">
                <a:solidFill>
                  <a:srgbClr val="082F5F"/>
                </a:solidFill>
              </a:rPr>
              <a:t>anche</a:t>
            </a:r>
            <a:r>
              <a:rPr sz="1200" b="1" i="0" dirty="0">
                <a:solidFill>
                  <a:srgbClr val="082F5F"/>
                </a:solidFill>
              </a:rPr>
              <a:t> per </a:t>
            </a:r>
            <a:r>
              <a:rPr sz="1200" b="1" i="0" dirty="0" err="1">
                <a:solidFill>
                  <a:srgbClr val="082F5F"/>
                </a:solidFill>
              </a:rPr>
              <a:t>i</a:t>
            </a:r>
            <a:r>
              <a:rPr sz="1200" b="1" i="0" dirty="0">
                <a:solidFill>
                  <a:srgbClr val="082F5F"/>
                </a:solidFill>
              </a:rPr>
              <a:t> </a:t>
            </a:r>
            <a:r>
              <a:rPr sz="1200" b="1" i="0" dirty="0" err="1">
                <a:solidFill>
                  <a:srgbClr val="082F5F"/>
                </a:solidFill>
              </a:rPr>
              <a:t>minori</a:t>
            </a:r>
            <a:r>
              <a:rPr sz="1200" b="1" i="0" dirty="0">
                <a:solidFill>
                  <a:srgbClr val="082F5F"/>
                </a:solidFill>
              </a:rPr>
              <a:t> </a:t>
            </a:r>
            <a:r>
              <a:rPr sz="1200" b="1" i="0" dirty="0" err="1">
                <a:solidFill>
                  <a:srgbClr val="082F5F"/>
                </a:solidFill>
              </a:rPr>
              <a:t>collegati</a:t>
            </a:r>
            <a:r>
              <a:rPr sz="1200" b="1" i="0" dirty="0">
                <a:solidFill>
                  <a:srgbClr val="082F5F"/>
                </a:solidFill>
              </a:rPr>
              <a:t> e </a:t>
            </a:r>
            <a:r>
              <a:rPr sz="1200" b="1" i="0" dirty="0" err="1">
                <a:solidFill>
                  <a:srgbClr val="082F5F"/>
                </a:solidFill>
              </a:rPr>
              <a:t>consuma</a:t>
            </a:r>
            <a:r>
              <a:rPr sz="1200" b="1" i="0" dirty="0">
                <a:solidFill>
                  <a:srgbClr val="082F5F"/>
                </a:solidFill>
              </a:rPr>
              <a:t> il </a:t>
            </a:r>
            <a:r>
              <a:rPr sz="1200" b="1" i="0" dirty="0" err="1">
                <a:solidFill>
                  <a:srgbClr val="082F5F"/>
                </a:solidFill>
              </a:rPr>
              <a:t>numero</a:t>
            </a:r>
            <a:r>
              <a:rPr sz="1200" b="1" i="0" dirty="0">
                <a:solidFill>
                  <a:srgbClr val="082F5F"/>
                </a:solidFill>
              </a:rPr>
              <a:t> </a:t>
            </a:r>
            <a:r>
              <a:rPr sz="1200" b="1" i="0" dirty="0" err="1">
                <a:solidFill>
                  <a:srgbClr val="082F5F"/>
                </a:solidFill>
              </a:rPr>
              <a:t>reale</a:t>
            </a:r>
            <a:r>
              <a:rPr sz="1200" b="1" i="0" dirty="0">
                <a:solidFill>
                  <a:srgbClr val="082F5F"/>
                </a:solidFill>
              </a:rPr>
              <a:t> di </a:t>
            </a:r>
            <a:r>
              <a:rPr sz="1200" b="1" i="0" dirty="0" err="1">
                <a:solidFill>
                  <a:srgbClr val="082F5F"/>
                </a:solidFill>
              </a:rPr>
              <a:t>posti</a:t>
            </a:r>
            <a:r>
              <a:rPr sz="1200" b="1" i="0" dirty="0">
                <a:solidFill>
                  <a:srgbClr val="082F5F"/>
                </a:solidFill>
              </a:rPr>
              <a:t> del </a:t>
            </a:r>
            <a:r>
              <a:rPr sz="1200" b="1" i="0" dirty="0" err="1">
                <a:solidFill>
                  <a:srgbClr val="082F5F"/>
                </a:solidFill>
              </a:rPr>
              <a:t>nucleo</a:t>
            </a:r>
            <a:r>
              <a:rPr sz="1200" b="1" i="0" dirty="0">
                <a:solidFill>
                  <a:srgbClr val="082F5F"/>
                </a:solidFill>
              </a:rPr>
              <a:t>.</a:t>
            </a:r>
            <a:r>
              <a:rPr lang="it-IT" sz="1200" b="1" i="0" dirty="0">
                <a:solidFill>
                  <a:srgbClr val="082F5F"/>
                </a:solidFill>
              </a:rPr>
              <a:t>(cambiare?)</a:t>
            </a:r>
            <a:endParaRPr sz="1200" b="1" i="0" dirty="0">
              <a:solidFill>
                <a:srgbClr val="082F5F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1618563-7E77-4930-8412-37AE87F04BF0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1615ADB-3B45-4F87-96E8-000EE393478C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E68FFF4-BADC-420E-87B4-25F2C918F81F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867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Percorso scuole">
            <a:extLst>
              <a:ext uri="{FF2B5EF4-FFF2-40B4-BE49-F238E27FC236}">
                <a16:creationId xmlns:a16="http://schemas.microsoft.com/office/drawing/2014/main" id="{D9AEC7BB-F865-47A6-8430-21E0C35153C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PERCORSO SCUOLE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00CC4BD-31DA-4FAE-8E61-DC5DC40FD39F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Le scuole prenotano senza dati degli studenti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8EE9E61-73B3-4DF5-9508-E70D4F43B623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082F5F"/>
                </a:solidFill>
              </a:defRPr>
            </a:pPr>
            <a:r>
              <a:rPr sz="1875" b="1" i="0">
                <a:solidFill>
                  <a:srgbClr val="082F5F"/>
                </a:solidFill>
              </a:rPr>
              <a:t>Un flusso distinto dall’iscrizione personale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6A3C96C-915D-447F-8292-92404D6EB29B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3905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10243C"/>
                </a:solidFill>
              </a:defRPr>
            </a:pPr>
            <a:r>
              <a:rPr sz="1575" b="0" i="0">
                <a:solidFill>
                  <a:srgbClr val="10243C"/>
                </a:solidFill>
              </a:rPr>
              <a:t>Il docente indica soltanto i dati necessari della scuola e le quantità del gruppo. I nomi degli studenti non vengono raccolti.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6C56247-285B-4DE8-95B8-9834B617AEDD}"/>
              </a:ext>
            </a:extLst>
          </p:cNvPr>
          <p:cNvSpPr>
            <a:spLocks noGrp="1"/>
          </p:cNvSpPr>
          <p:nvPr/>
        </p:nvSpPr>
        <p:spPr>
          <a:xfrm>
            <a:off x="590550" y="3619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01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63E4875-1408-48B2-A6D5-3C7022659F3B}"/>
              </a:ext>
            </a:extLst>
          </p:cNvPr>
          <p:cNvSpPr>
            <a:spLocks noGrp="1"/>
          </p:cNvSpPr>
          <p:nvPr/>
        </p:nvSpPr>
        <p:spPr>
          <a:xfrm>
            <a:off x="1104900" y="3600450"/>
            <a:ext cx="3390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lang="it-IT" sz="1725" b="1" dirty="0">
                <a:solidFill>
                  <a:srgbClr val="10243C"/>
                </a:solidFill>
              </a:rPr>
              <a:t>Sezione</a:t>
            </a:r>
            <a:r>
              <a:rPr sz="1725" b="1" i="0" dirty="0">
                <a:solidFill>
                  <a:srgbClr val="10243C"/>
                </a:solidFill>
              </a:rPr>
              <a:t> </a:t>
            </a:r>
            <a:r>
              <a:rPr sz="1725" b="1" i="0" dirty="0" err="1">
                <a:solidFill>
                  <a:srgbClr val="10243C"/>
                </a:solidFill>
              </a:rPr>
              <a:t>separat</a:t>
            </a:r>
            <a:r>
              <a:rPr lang="it-IT" sz="1725" b="1" i="0" dirty="0">
                <a:solidFill>
                  <a:srgbClr val="10243C"/>
                </a:solidFill>
              </a:rPr>
              <a:t>a</a:t>
            </a:r>
            <a:endParaRPr sz="1725" b="1" i="0" dirty="0">
              <a:solidFill>
                <a:srgbClr val="10243C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8A76FD5-89B9-40CF-9220-D0DA68D4D632}"/>
              </a:ext>
            </a:extLst>
          </p:cNvPr>
          <p:cNvSpPr>
            <a:spLocks noGrp="1"/>
          </p:cNvSpPr>
          <p:nvPr/>
        </p:nvSpPr>
        <p:spPr>
          <a:xfrm>
            <a:off x="1104900" y="3914775"/>
            <a:ext cx="3390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 dirty="0">
                <a:solidFill>
                  <a:srgbClr val="5F6F82"/>
                </a:solidFill>
              </a:rPr>
              <a:t>I </a:t>
            </a:r>
            <a:r>
              <a:rPr sz="1275" b="0" i="0" dirty="0" err="1">
                <a:solidFill>
                  <a:srgbClr val="5F6F82"/>
                </a:solidFill>
              </a:rPr>
              <a:t>posti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lang="it-IT" sz="1275" b="0" i="0" dirty="0">
                <a:solidFill>
                  <a:srgbClr val="5F6F82"/>
                </a:solidFill>
              </a:rPr>
              <a:t>prenotati </a:t>
            </a:r>
            <a:r>
              <a:rPr sz="1275" b="0" i="0" dirty="0" err="1">
                <a:solidFill>
                  <a:srgbClr val="5F6F82"/>
                </a:solidFill>
              </a:rPr>
              <a:t>scal</a:t>
            </a:r>
            <a:r>
              <a:rPr lang="it-IT" sz="1275" b="0" i="0" dirty="0" err="1">
                <a:solidFill>
                  <a:srgbClr val="5F6F82"/>
                </a:solidFill>
              </a:rPr>
              <a:t>eranno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sz="1275" b="0" i="0" dirty="0" err="1">
                <a:solidFill>
                  <a:srgbClr val="5F6F82"/>
                </a:solidFill>
              </a:rPr>
              <a:t>soltanto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lang="it-IT" sz="1275" dirty="0">
                <a:solidFill>
                  <a:srgbClr val="5F6F82"/>
                </a:solidFill>
              </a:rPr>
              <a:t>quelli nella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sz="1275" b="0" i="0" dirty="0" err="1">
                <a:solidFill>
                  <a:srgbClr val="5F6F82"/>
                </a:solidFill>
              </a:rPr>
              <a:t>sezione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sz="1275" b="0" i="0" dirty="0" err="1">
                <a:solidFill>
                  <a:srgbClr val="5F6F82"/>
                </a:solidFill>
              </a:rPr>
              <a:t>Scuole</a:t>
            </a:r>
            <a:r>
              <a:rPr sz="1275" b="0" i="0" dirty="0">
                <a:solidFill>
                  <a:srgbClr val="5F6F82"/>
                </a:solidFill>
              </a:rPr>
              <a:t> del panel</a:t>
            </a:r>
            <a:r>
              <a:rPr lang="it-IT" sz="1275" b="0" i="0" dirty="0">
                <a:solidFill>
                  <a:srgbClr val="5F6F82"/>
                </a:solidFill>
              </a:rPr>
              <a:t> scelto</a:t>
            </a:r>
            <a:endParaRPr sz="1275" b="0" i="0" dirty="0">
              <a:solidFill>
                <a:srgbClr val="5F6F82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4435693-757F-45BF-B671-38AA58AD3A07}"/>
              </a:ext>
            </a:extLst>
          </p:cNvPr>
          <p:cNvSpPr>
            <a:spLocks noGrp="1"/>
          </p:cNvSpPr>
          <p:nvPr/>
        </p:nvSpPr>
        <p:spPr>
          <a:xfrm>
            <a:off x="590550" y="47053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02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BECFF9C-D792-407E-A9D8-184504CF51DF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3390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Gestione autonoma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52D7EFA-B91E-4819-88D2-04AA623F06DA}"/>
              </a:ext>
            </a:extLst>
          </p:cNvPr>
          <p:cNvSpPr>
            <a:spLocks noGrp="1"/>
          </p:cNvSpPr>
          <p:nvPr/>
        </p:nvSpPr>
        <p:spPr>
          <a:xfrm>
            <a:off x="1104900" y="5000625"/>
            <a:ext cx="3390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Magic link, QR di gruppo, modifica, riduzione o annullamento.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A5730B9-6EA4-43D6-B6FD-DBED9D7527DD}"/>
              </a:ext>
            </a:extLst>
          </p:cNvPr>
          <p:cNvSpPr>
            <a:spLocks noGrp="1"/>
          </p:cNvSpPr>
          <p:nvPr/>
        </p:nvSpPr>
        <p:spPr>
          <a:xfrm>
            <a:off x="4895850" y="1504950"/>
            <a:ext cx="6705600" cy="43434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27" name="Immagine 26"/>
          <p:cNvPicPr>
            <a:picLocks noChangeAspect="1"/>
          </p:cNvPicPr>
          <p:nvPr/>
        </p:nvPicPr>
        <p:blipFill>
          <a:blip r:embed="rId3"/>
          <a:srcRect l="6579" r="6579"/>
          <a:stretch>
            <a:fillRect/>
          </a:stretch>
        </p:blipFill>
        <p:spPr>
          <a:xfrm>
            <a:off x="4895850" y="1504950"/>
            <a:ext cx="6705600" cy="4343400"/>
          </a:xfrm>
          <a:prstGeom prst="roundRect">
            <a:avLst>
              <a:gd name="adj" fmla="val 3070"/>
            </a:avLst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B4BF2FFB-68AE-4DA6-A507-DDFE97B4452B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D33B2AF-4800-4367-8DC0-9491479BD4C6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30274CA-7DD7-4413-A62B-905CD97856C6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171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-Comunicazioni">
            <a:extLst>
              <a:ext uri="{FF2B5EF4-FFF2-40B4-BE49-F238E27FC236}">
                <a16:creationId xmlns:a16="http://schemas.microsoft.com/office/drawing/2014/main" id="{3E37AA36-2E35-4B2A-BBFB-223E6D9A1FAE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COMUNICAZIONI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A155CBB-8ED2-4638-AEED-38EFB464B68E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Campagne mirate per panel e professori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6E3178E4-0DF4-4DBD-AAED-B3227C986751}"/>
              </a:ext>
            </a:extLst>
          </p:cNvPr>
          <p:cNvSpPr>
            <a:spLocks noGrp="1"/>
          </p:cNvSpPr>
          <p:nvPr/>
        </p:nvSpPr>
        <p:spPr>
          <a:xfrm>
            <a:off x="590550" y="1504950"/>
            <a:ext cx="6858000" cy="43434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7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it-IT"/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3"/>
          <a:srcRect l="5592" r="5592"/>
          <a:stretch>
            <a:fillRect/>
          </a:stretch>
        </p:blipFill>
        <p:spPr>
          <a:xfrm>
            <a:off x="590550" y="1504950"/>
            <a:ext cx="6858000" cy="4343400"/>
          </a:xfrm>
          <a:prstGeom prst="roundRect">
            <a:avLst>
              <a:gd name="adj" fmla="val 3070"/>
            </a:avLst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E17EDC8-664E-4DC4-9337-0984AECC95E1}"/>
              </a:ext>
            </a:extLst>
          </p:cNvPr>
          <p:cNvSpPr>
            <a:spLocks noGrp="1"/>
          </p:cNvSpPr>
          <p:nvPr/>
        </p:nvSpPr>
        <p:spPr>
          <a:xfrm>
            <a:off x="7886700" y="1581150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082F5F"/>
                </a:solidFill>
              </a:defRPr>
            </a:pPr>
            <a:r>
              <a:rPr sz="1875" b="1" i="0">
                <a:solidFill>
                  <a:srgbClr val="082F5F"/>
                </a:solidFill>
              </a:rPr>
              <a:t>Nuovi criteri, stessa selezione sicura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096E68E-BC75-4336-9974-0406BFD61200}"/>
              </a:ext>
            </a:extLst>
          </p:cNvPr>
          <p:cNvSpPr>
            <a:spLocks noGrp="1"/>
          </p:cNvSpPr>
          <p:nvPr/>
        </p:nvSpPr>
        <p:spPr>
          <a:xfrm>
            <a:off x="7886700" y="26098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7BDEB3B-2943-4367-98A4-B89A36986152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Partecipanti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C739CB4-8924-4000-953A-4B9C46029D70}"/>
              </a:ext>
            </a:extLst>
          </p:cNvPr>
          <p:cNvSpPr>
            <a:spLocks noGrp="1"/>
          </p:cNvSpPr>
          <p:nvPr/>
        </p:nvSpPr>
        <p:spPr>
          <a:xfrm>
            <a:off x="8401050" y="2905125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Filtro per uno specifico panel, oltre a gruppo, tag e servizio.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DD03DD0-2CFD-442A-BD59-C8B44F599601}"/>
              </a:ext>
            </a:extLst>
          </p:cNvPr>
          <p:cNvSpPr>
            <a:spLocks noGrp="1"/>
          </p:cNvSpPr>
          <p:nvPr/>
        </p:nvSpPr>
        <p:spPr>
          <a:xfrm>
            <a:off x="7886700" y="36957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02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176BBE0-9ED3-4609-8E58-0140582E11B1}"/>
              </a:ext>
            </a:extLst>
          </p:cNvPr>
          <p:cNvSpPr>
            <a:spLocks noGrp="1"/>
          </p:cNvSpPr>
          <p:nvPr/>
        </p:nvSpPr>
        <p:spPr>
          <a:xfrm>
            <a:off x="8401050" y="36766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Professori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A371B6B-6763-4D99-890B-02517901BF2B}"/>
              </a:ext>
            </a:extLst>
          </p:cNvPr>
          <p:cNvSpPr>
            <a:spLocks noGrp="1"/>
          </p:cNvSpPr>
          <p:nvPr/>
        </p:nvSpPr>
        <p:spPr>
          <a:xfrm>
            <a:off x="8401050" y="3990975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Audience separata e deduplicata anche con più classi.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D885865-4BEE-4468-B181-830789055BAE}"/>
              </a:ext>
            </a:extLst>
          </p:cNvPr>
          <p:cNvSpPr>
            <a:spLocks noGrp="1"/>
          </p:cNvSpPr>
          <p:nvPr/>
        </p:nvSpPr>
        <p:spPr>
          <a:xfrm>
            <a:off x="7886700" y="4781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03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5F3DAA1-BFB0-4538-8140-9ACF571C911D}"/>
              </a:ext>
            </a:extLst>
          </p:cNvPr>
          <p:cNvSpPr>
            <a:spLocks noGrp="1"/>
          </p:cNvSpPr>
          <p:nvPr/>
        </p:nvSpPr>
        <p:spPr>
          <a:xfrm>
            <a:off x="8401050" y="47625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Invio controllato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563E1BD-AF4D-421C-B36A-EA891728A5E6}"/>
              </a:ext>
            </a:extLst>
          </p:cNvPr>
          <p:cNvSpPr>
            <a:spLocks noGrp="1"/>
          </p:cNvSpPr>
          <p:nvPr/>
        </p:nvSpPr>
        <p:spPr>
          <a:xfrm>
            <a:off x="8401050" y="5076824"/>
            <a:ext cx="32004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 dirty="0" err="1">
                <a:solidFill>
                  <a:srgbClr val="5F6F82"/>
                </a:solidFill>
              </a:rPr>
              <a:t>Selezione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sz="1275" b="0" i="0" dirty="0" err="1">
                <a:solidFill>
                  <a:srgbClr val="5F6F82"/>
                </a:solidFill>
              </a:rPr>
              <a:t>esplicita</a:t>
            </a:r>
            <a:r>
              <a:rPr sz="1275" b="0" i="0" dirty="0">
                <a:solidFill>
                  <a:srgbClr val="5F6F82"/>
                </a:solidFill>
              </a:rPr>
              <a:t>, test </a:t>
            </a:r>
            <a:r>
              <a:rPr sz="1275" b="0" i="0" dirty="0" err="1">
                <a:solidFill>
                  <a:srgbClr val="5F6F82"/>
                </a:solidFill>
              </a:rPr>
              <a:t>obbligatorio</a:t>
            </a:r>
            <a:r>
              <a:rPr sz="1275" b="0" i="0" dirty="0">
                <a:solidFill>
                  <a:srgbClr val="5F6F82"/>
                </a:solidFill>
              </a:rPr>
              <a:t> e coda </a:t>
            </a:r>
            <a:r>
              <a:rPr sz="1275" b="0" i="0" dirty="0" err="1">
                <a:solidFill>
                  <a:srgbClr val="5F6F82"/>
                </a:solidFill>
              </a:rPr>
              <a:t>globale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sz="1275" b="0" i="0" dirty="0" err="1">
                <a:solidFill>
                  <a:srgbClr val="5F6F82"/>
                </a:solidFill>
              </a:rPr>
              <a:t>fino</a:t>
            </a:r>
            <a:r>
              <a:rPr sz="1275" b="0" i="0" dirty="0">
                <a:solidFill>
                  <a:srgbClr val="5F6F82"/>
                </a:solidFill>
              </a:rPr>
              <a:t> a 300 </a:t>
            </a:r>
            <a:r>
              <a:rPr sz="1275" b="0" i="0" dirty="0" err="1">
                <a:solidFill>
                  <a:srgbClr val="5F6F82"/>
                </a:solidFill>
              </a:rPr>
              <a:t>tentativi</a:t>
            </a:r>
            <a:r>
              <a:rPr sz="1275" b="0" i="0" dirty="0">
                <a:solidFill>
                  <a:srgbClr val="5F6F82"/>
                </a:solidFill>
              </a:rPr>
              <a:t> al </a:t>
            </a:r>
            <a:r>
              <a:rPr sz="1275" b="0" i="0" dirty="0" err="1">
                <a:solidFill>
                  <a:srgbClr val="5F6F82"/>
                </a:solidFill>
              </a:rPr>
              <a:t>giorno</a:t>
            </a:r>
            <a:r>
              <a:rPr sz="1275" b="0" i="0" dirty="0">
                <a:solidFill>
                  <a:srgbClr val="5F6F82"/>
                </a:solidFill>
              </a:rPr>
              <a:t>.</a:t>
            </a:r>
            <a:r>
              <a:rPr lang="it-IT" sz="1275" b="0" i="0" dirty="0">
                <a:solidFill>
                  <a:srgbClr val="5F6F82"/>
                </a:solidFill>
              </a:rPr>
              <a:t>(stiamo modificando)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A42F6F3-73FE-4958-AB80-5D1503196941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7B750EF9-31AF-42FE-B5A0-CB5AC57C3F3D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33E5B6-5665-4D80-9E6D-AEA2DF018A85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863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Report operativo">
            <a:extLst>
              <a:ext uri="{FF2B5EF4-FFF2-40B4-BE49-F238E27FC236}">
                <a16:creationId xmlns:a16="http://schemas.microsoft.com/office/drawing/2014/main" id="{07B27396-0AA0-4915-B58E-1341E90274E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4F8F"/>
                </a:solidFill>
              </a:defRPr>
            </a:pPr>
            <a:r>
              <a:rPr sz="1125" b="1" i="0">
                <a:solidFill>
                  <a:srgbClr val="0B4F8F"/>
                </a:solidFill>
              </a:rPr>
              <a:t>REPORT OPERATIVO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83FDC74-393E-4A3E-AA63-D2D6C9C57712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1010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000000"/>
                </a:solidFill>
              </a:defRPr>
            </a:pPr>
            <a:r>
              <a:rPr sz="3000" b="1" i="0">
                <a:solidFill>
                  <a:srgbClr val="000000"/>
                </a:solidFill>
              </a:rPr>
              <a:t>Capienze e prenotazioni diventano decisioni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592B7F8-FB4F-4F85-BFE1-964C27F20E2B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400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082F5F"/>
                </a:solidFill>
              </a:defRPr>
            </a:pPr>
            <a:r>
              <a:rPr lang="it-IT" sz="1875" b="1" dirty="0">
                <a:solidFill>
                  <a:srgbClr val="082F5F"/>
                </a:solidFill>
              </a:rPr>
              <a:t>Un nuovo report statistico per i panel</a:t>
            </a:r>
            <a:endParaRPr sz="1875" b="1" i="0" dirty="0">
              <a:solidFill>
                <a:srgbClr val="082F5F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B81A9E8-5518-4FA5-B18A-A6CD8FD2C41A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0BC23D7-6D00-46A5-8270-FD5D986D215E}"/>
              </a:ext>
            </a:extLst>
          </p:cNvPr>
          <p:cNvSpPr>
            <a:spLocks noGrp="1"/>
          </p:cNvSpPr>
          <p:nvPr/>
        </p:nvSpPr>
        <p:spPr>
          <a:xfrm>
            <a:off x="1104900" y="2495550"/>
            <a:ext cx="348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Riconciliabile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B0C3C57-AD4E-4700-B1B2-310172FE7856}"/>
              </a:ext>
            </a:extLst>
          </p:cNvPr>
          <p:cNvSpPr>
            <a:spLocks noGrp="1"/>
          </p:cNvSpPr>
          <p:nvPr/>
        </p:nvSpPr>
        <p:spPr>
          <a:xfrm>
            <a:off x="1104900" y="2809875"/>
            <a:ext cx="3486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Adulti individuali, minori e persone scuola restano distinti.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85401DB-6C8B-4038-A2E1-287D06E6E859}"/>
              </a:ext>
            </a:extLst>
          </p:cNvPr>
          <p:cNvSpPr>
            <a:spLocks noGrp="1"/>
          </p:cNvSpPr>
          <p:nvPr/>
        </p:nvSpPr>
        <p:spPr>
          <a:xfrm>
            <a:off x="590550" y="36004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02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78A96BA-8C9A-47F3-9DD6-923D17ADAEAC}"/>
              </a:ext>
            </a:extLst>
          </p:cNvPr>
          <p:cNvSpPr>
            <a:spLocks noGrp="1"/>
          </p:cNvSpPr>
          <p:nvPr/>
        </p:nvSpPr>
        <p:spPr>
          <a:xfrm>
            <a:off x="1104900" y="3581400"/>
            <a:ext cx="348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Azionabile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83C4998-166B-4DFA-817D-DFAB094E327B}"/>
              </a:ext>
            </a:extLst>
          </p:cNvPr>
          <p:cNvSpPr>
            <a:spLocks noGrp="1"/>
          </p:cNvSpPr>
          <p:nvPr/>
        </p:nvSpPr>
        <p:spPr>
          <a:xfrm>
            <a:off x="1104900" y="3895725"/>
            <a:ext cx="3486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Filtri per giorno, location, panel, pubblico e stato di capienza.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9930577-D21C-4EF5-9BA0-CD79370A45BA}"/>
              </a:ext>
            </a:extLst>
          </p:cNvPr>
          <p:cNvSpPr>
            <a:spLocks noGrp="1"/>
          </p:cNvSpPr>
          <p:nvPr/>
        </p:nvSpPr>
        <p:spPr>
          <a:xfrm>
            <a:off x="590550" y="46863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>
                <a:solidFill>
                  <a:srgbClr val="0B4F8F"/>
                </a:solidFill>
              </a:rPr>
              <a:t>03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1EEE3A3-1BE0-47C0-9863-06EDAB6116B3}"/>
              </a:ext>
            </a:extLst>
          </p:cNvPr>
          <p:cNvSpPr>
            <a:spLocks noGrp="1"/>
          </p:cNvSpPr>
          <p:nvPr/>
        </p:nvSpPr>
        <p:spPr>
          <a:xfrm>
            <a:off x="1104900" y="4667250"/>
            <a:ext cx="348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43C"/>
                </a:solidFill>
              </a:defRPr>
            </a:pPr>
            <a:r>
              <a:rPr sz="1725" b="1" i="0">
                <a:solidFill>
                  <a:srgbClr val="10243C"/>
                </a:solidFill>
              </a:rPr>
              <a:t>Collegato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5D7C6EC-9350-45C9-8200-E9031B2CAE23}"/>
              </a:ext>
            </a:extLst>
          </p:cNvPr>
          <p:cNvSpPr>
            <a:spLocks noGrp="1"/>
          </p:cNvSpPr>
          <p:nvPr/>
        </p:nvSpPr>
        <p:spPr>
          <a:xfrm>
            <a:off x="1104900" y="4981575"/>
            <a:ext cx="3486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F6F82"/>
                </a:solidFill>
              </a:defRPr>
            </a:pPr>
            <a:r>
              <a:rPr sz="1275" b="0" i="0" dirty="0">
                <a:solidFill>
                  <a:srgbClr val="5F6F82"/>
                </a:solidFill>
              </a:rPr>
              <a:t>Accesso </a:t>
            </a:r>
            <a:r>
              <a:rPr sz="1275" b="0" i="0" dirty="0" err="1">
                <a:solidFill>
                  <a:srgbClr val="5F6F82"/>
                </a:solidFill>
              </a:rPr>
              <a:t>diretto</a:t>
            </a:r>
            <a:r>
              <a:rPr sz="1275" b="0" i="0" dirty="0">
                <a:solidFill>
                  <a:srgbClr val="5F6F82"/>
                </a:solidFill>
              </a:rPr>
              <a:t> alla </a:t>
            </a:r>
            <a:r>
              <a:rPr sz="1275" b="0" i="0" dirty="0" err="1">
                <a:solidFill>
                  <a:srgbClr val="5F6F82"/>
                </a:solidFill>
              </a:rPr>
              <a:t>gestione</a:t>
            </a:r>
            <a:r>
              <a:rPr sz="1275" b="0" i="0" dirty="0">
                <a:solidFill>
                  <a:srgbClr val="5F6F82"/>
                </a:solidFill>
              </a:rPr>
              <a:t> panel o a </a:t>
            </a:r>
            <a:r>
              <a:rPr sz="1275" b="0" i="0" dirty="0" err="1">
                <a:solidFill>
                  <a:srgbClr val="5F6F82"/>
                </a:solidFill>
              </a:rPr>
              <a:t>una</a:t>
            </a:r>
            <a:r>
              <a:rPr sz="1275" b="0" i="0" dirty="0">
                <a:solidFill>
                  <a:srgbClr val="5F6F82"/>
                </a:solidFill>
              </a:rPr>
              <a:t> campagna </a:t>
            </a:r>
            <a:r>
              <a:rPr sz="1275" b="0" i="0" dirty="0" err="1">
                <a:solidFill>
                  <a:srgbClr val="5F6F82"/>
                </a:solidFill>
              </a:rPr>
              <a:t>già</a:t>
            </a:r>
            <a:r>
              <a:rPr sz="1275" b="0" i="0" dirty="0">
                <a:solidFill>
                  <a:srgbClr val="5F6F82"/>
                </a:solidFill>
              </a:rPr>
              <a:t> </a:t>
            </a:r>
            <a:r>
              <a:rPr sz="1275" b="0" i="0" dirty="0" err="1">
                <a:solidFill>
                  <a:srgbClr val="5F6F82"/>
                </a:solidFill>
              </a:rPr>
              <a:t>filtrata</a:t>
            </a:r>
            <a:r>
              <a:rPr sz="1275" b="0" i="0" dirty="0">
                <a:solidFill>
                  <a:srgbClr val="5F6F82"/>
                </a:solidFill>
              </a:rPr>
              <a:t>.</a:t>
            </a:r>
            <a:r>
              <a:rPr lang="it-IT" sz="1275" b="0" i="0" dirty="0">
                <a:solidFill>
                  <a:srgbClr val="5F6F82"/>
                </a:solidFill>
              </a:rPr>
              <a:t> (non so se troppo confusionario)</a:t>
            </a:r>
            <a:endParaRPr sz="1275" b="0" i="0" dirty="0">
              <a:solidFill>
                <a:srgbClr val="5F6F82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D13824C-F4A1-4C88-B691-1621BF4DF1DB}"/>
              </a:ext>
            </a:extLst>
          </p:cNvPr>
          <p:cNvSpPr>
            <a:spLocks noGrp="1"/>
          </p:cNvSpPr>
          <p:nvPr/>
        </p:nvSpPr>
        <p:spPr>
          <a:xfrm>
            <a:off x="590550" y="57340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1">
                <a:solidFill>
                  <a:srgbClr val="5F6F82"/>
                </a:solidFill>
              </a:defRPr>
            </a:pPr>
            <a:r>
              <a:rPr sz="1200" b="0" i="1">
                <a:solidFill>
                  <a:srgbClr val="5F6F82"/>
                </a:solidFill>
              </a:rPr>
              <a:t>Il confronto previsto/effettivo arriverà con il nuovo check-in P11.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4BC0664-4684-4D72-AA98-486B68F92791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EC0AA17-CDC0-420A-B8D6-EC5572B77D80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UNARMED AND DISARMING PEACE · ASSISI 2026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84A008C-E13F-42A2-A8A4-D622060446DE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F6F82"/>
                </a:solidFill>
              </a:defRPr>
            </a:pPr>
            <a:r>
              <a:rPr sz="900" b="1" i="0">
                <a:solidFill>
                  <a:srgbClr val="5F6F82"/>
                </a:solidFill>
              </a:rPr>
              <a:t>09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A6245BA-3170-EB72-0ACE-AD0AAB89C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04" y="1219200"/>
            <a:ext cx="5981372" cy="51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43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16F30E0-A099-4FE7-AAD9-D64A6781F287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6858000"/>
          </a:xfrm>
          <a:prstGeom prst="rect">
            <a:avLst/>
          </a:prstGeom>
          <a:solidFill>
            <a:srgbClr val="082F5F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3B35847-3BB8-4919-AB49-E5D5F7356686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1104900" cy="47625"/>
          </a:xfrm>
          <a:prstGeom prst="rect">
            <a:avLst/>
          </a:prstGeom>
          <a:solidFill>
            <a:srgbClr val="40C8EF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CBA823A-8D5C-429E-A0BC-AF98FC0DB977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4F8F"/>
                </a:solidFill>
              </a:defRPr>
            </a:pPr>
            <a:r>
              <a:rPr sz="1350" b="1" i="0" dirty="0">
                <a:solidFill>
                  <a:srgbClr val="0B4F8F"/>
                </a:solidFill>
              </a:rPr>
              <a:t>STATO DEL</a:t>
            </a:r>
            <a:r>
              <a:rPr lang="it-IT" sz="1350" b="1" i="0" dirty="0">
                <a:solidFill>
                  <a:srgbClr val="0B4F8F"/>
                </a:solidFill>
              </a:rPr>
              <a:t>LE NUOVE FUNZIONI</a:t>
            </a:r>
            <a:endParaRPr sz="1350" b="1" i="0" dirty="0">
              <a:solidFill>
                <a:srgbClr val="0B4F8F"/>
              </a:solidFill>
            </a:endParaRPr>
          </a:p>
        </p:txBody>
      </p:sp>
      <p:sp>
        <p:nvSpPr>
          <p:cNvPr id="4" name="closing-title">
            <a:extLst>
              <a:ext uri="{FF2B5EF4-FFF2-40B4-BE49-F238E27FC236}">
                <a16:creationId xmlns:a16="http://schemas.microsoft.com/office/drawing/2014/main" id="{315C63F9-7D98-4478-99A7-180A192637C2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80010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 i="0">
                <a:solidFill>
                  <a:srgbClr val="000000"/>
                </a:solidFill>
              </a:defRPr>
            </a:pPr>
            <a:r>
              <a:rPr lang="it-IT" sz="4050" b="1" i="0" dirty="0">
                <a:solidFill>
                  <a:srgbClr val="000000"/>
                </a:solidFill>
              </a:rPr>
              <a:t>Tutte le funzioni dedicate ai panel sono </a:t>
            </a:r>
            <a:r>
              <a:rPr lang="it-IT" sz="4050" b="1" dirty="0">
                <a:solidFill>
                  <a:srgbClr val="000000"/>
                </a:solidFill>
              </a:rPr>
              <a:t>state implementate insieme </a:t>
            </a:r>
            <a:endParaRPr sz="4050" b="1" i="0" dirty="0">
              <a:solidFill>
                <a:srgbClr val="000000"/>
              </a:solidFill>
            </a:endParaRPr>
          </a:p>
          <a:p>
            <a:pPr algn="l">
              <a:defRPr sz="4050" b="1" i="0">
                <a:solidFill>
                  <a:srgbClr val="000000"/>
                </a:solidFill>
              </a:defRPr>
            </a:pPr>
            <a:r>
              <a:rPr sz="4050" b="1" i="0" dirty="0" err="1">
                <a:solidFill>
                  <a:srgbClr val="000000"/>
                </a:solidFill>
              </a:rPr>
              <a:t>pront</a:t>
            </a:r>
            <a:r>
              <a:rPr lang="it-IT" sz="4050" b="1" i="0" dirty="0">
                <a:solidFill>
                  <a:srgbClr val="000000"/>
                </a:solidFill>
              </a:rPr>
              <a:t>e</a:t>
            </a:r>
            <a:r>
              <a:rPr sz="4050" b="1" i="0" dirty="0">
                <a:solidFill>
                  <a:srgbClr val="000000"/>
                </a:solidFill>
              </a:rPr>
              <a:t> per il </a:t>
            </a:r>
            <a:r>
              <a:rPr sz="4050" b="1" i="0" dirty="0" err="1">
                <a:solidFill>
                  <a:srgbClr val="000000"/>
                </a:solidFill>
              </a:rPr>
              <a:t>collaudo</a:t>
            </a:r>
            <a:endParaRPr sz="4050" b="1" i="0" dirty="0">
              <a:solidFill>
                <a:srgbClr val="000000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9CD615F-ABF2-4A6A-A690-0521CE530116}"/>
              </a:ext>
            </a:extLst>
          </p:cNvPr>
          <p:cNvSpPr>
            <a:spLocks noGrp="1"/>
          </p:cNvSpPr>
          <p:nvPr/>
        </p:nvSpPr>
        <p:spPr>
          <a:xfrm>
            <a:off x="590550" y="3829050"/>
            <a:ext cx="800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082F5F"/>
                </a:solidFill>
              </a:defRPr>
            </a:pPr>
            <a:r>
              <a:rPr sz="1800" b="1" i="0">
                <a:solidFill>
                  <a:srgbClr val="082F5F"/>
                </a:solidFill>
              </a:rPr>
              <a:t>Configurazione → programma → prenotazioni → comunicazioni → report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9255B31-12D5-46A9-94D5-CF9AB8464664}"/>
              </a:ext>
            </a:extLst>
          </p:cNvPr>
          <p:cNvSpPr>
            <a:spLocks noGrp="1"/>
          </p:cNvSpPr>
          <p:nvPr/>
        </p:nvSpPr>
        <p:spPr>
          <a:xfrm>
            <a:off x="590550" y="4762500"/>
            <a:ext cx="7810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5F6F82"/>
                </a:solidFill>
              </a:defRPr>
            </a:pPr>
            <a:r>
              <a:rPr sz="1425" b="0" i="0">
                <a:solidFill>
                  <a:srgbClr val="5F6F82"/>
                </a:solidFill>
              </a:rPr>
              <a:t>Le funzioni P0–P10 sono nello staging dedicato. Il rilascio in produzione avverrà dopo la verifica end-to-end e il piano di rollback.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4754115-E41D-4D03-B0F1-F4DAECE8A74D}"/>
              </a:ext>
            </a:extLst>
          </p:cNvPr>
          <p:cNvSpPr>
            <a:spLocks noGrp="1"/>
          </p:cNvSpPr>
          <p:nvPr/>
        </p:nvSpPr>
        <p:spPr>
          <a:xfrm>
            <a:off x="10134600" y="15811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40C8EF"/>
                </a:solidFill>
              </a:defRPr>
            </a:pPr>
            <a:r>
              <a:rPr sz="1125" b="1" i="0">
                <a:solidFill>
                  <a:srgbClr val="40C8EF"/>
                </a:solidFill>
              </a:rPr>
              <a:t>PROSSIMA FASE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5130431-B20D-4B0A-8B19-57EC92E3B4E8}"/>
              </a:ext>
            </a:extLst>
          </p:cNvPr>
          <p:cNvSpPr>
            <a:spLocks noGrp="1"/>
          </p:cNvSpPr>
          <p:nvPr/>
        </p:nvSpPr>
        <p:spPr>
          <a:xfrm>
            <a:off x="10134600" y="2095500"/>
            <a:ext cx="1581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P11–P13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0A8EC4C-8FFF-4F6C-B5CF-44DECB2109F5}"/>
              </a:ext>
            </a:extLst>
          </p:cNvPr>
          <p:cNvSpPr>
            <a:spLocks noGrp="1"/>
          </p:cNvSpPr>
          <p:nvPr/>
        </p:nvSpPr>
        <p:spPr>
          <a:xfrm>
            <a:off x="10134600" y="2800350"/>
            <a:ext cx="15811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QR, check-in e presenze effettive</a:t>
            </a:r>
          </a:p>
        </p:txBody>
      </p:sp>
    </p:spTree>
    <p:extLst>
      <p:ext uri="{BB962C8B-B14F-4D97-AF65-F5344CB8AC3E}">
        <p14:creationId xmlns:p14="http://schemas.microsoft.com/office/powerpoint/2010/main" val="14811755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1725</Words>
  <Application>Microsoft Macintosh PowerPoint</Application>
  <DocSecurity>0</DocSecurity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Stefano Orlando</cp:lastModifiedBy>
  <cp:revision>2</cp:revision>
  <dcterms:created xsi:type="dcterms:W3CDTF">2026-09-03T16:49:58Z</dcterms:created>
  <dcterms:modified xsi:type="dcterms:W3CDTF">2026-09-03T17:22:37Z</dcterms:modified>
</cp:coreProperties>
</file>