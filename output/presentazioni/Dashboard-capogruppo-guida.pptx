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5" r:id="rId5"/>
    <p:sldId id="266" r:id="rId6"/>
    <p:sldId id="267" r:id="rId7"/>
    <p:sldId id="268" r:id="rId8"/>
    <p:sldId id="259" r:id="rId9"/>
    <p:sldId id="260" r:id="rId10"/>
    <p:sldId id="261" r:id="rId11"/>
    <p:sldId id="263" r:id="rId12"/>
    <p:sldId id="262" r:id="rId13"/>
    <p:sldId id="264" r:id="rId14"/>
    <p:sldId id="269" r:id="rId15"/>
    <p:sldId id="270" r:id="rId16"/>
    <p:sldId id="271" r:id="rId1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Presentazione per la formazione iniziale dei capigruppo. Durata indicativa: 20 minuti, con una dimostrazione guidata finale. Spiegare che il ruolo operativo e l’iscrizione personale sono due funzioni diverse dello stesso account.</a:t>
            </a:r>
          </a:p>
          <a:p>
            <a:endParaRPr/>
          </a:p>
          <a:p>
            <a:r>
              <a:t>Riferimenti: AGENTS.md.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Aprire il sito e usare l’email a cui è stato assegnato il ruolo. Il Magic Link è il collegamento personale inviato per email, senza password. Non inviarlo ad altre persone. Se l’accesso mostra soltanto l’area personale, chiedere all’organizzazione di verificare il ruolo. La mia iscrizione permette al capogruppo di completare i propri dati e consultare il proprio QR.</a:t>
            </a:r>
          </a:p>
          <a:p>
            <a:endParaRPr/>
          </a:p>
          <a:p>
            <a:r>
              <a:t>Riferimenti: app/page.tsx, app/email-access-form.tsx, AGENTS.md.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Mostrare la sezione I tuoi gruppi. La visibilità segue gli incarichi assegnati e può comprendere sottogruppi. I pulsanti per link e inserimento compaiono sui gruppi abilitati alle iscrizioni. Se un gruppo manca, è inattivo o non può ricevere iscrizioni, rivolgersi a manager/admin.</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 I tuoi gruppi aprire Gestisci link. Copiare il collegamento già disponibile con Copia link e inviarlo alle persone che devono iscriversi con quel gruppo. Il modulo mostra il gruppo già selezionato. Nome visualizzato del link permette di personalizzare il nome pubblico. Modificare lo slug invalida il vecchio indirizzo: se si cambia, occorre condividere il nuovo. Non descrivere creazione manuale o revoca, che appartengono al vecchio flusso.</a:t>
            </a:r>
          </a:p>
          <a:p>
            <a:endParaRPr/>
          </a:p>
          <a:p>
            <a:r>
              <a:t>Riferimenti: lib/groups/registration-links.ts, AGENTS.md.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Prima cercare nell’elenco per evitare una doppia iscrizione. Il modulo Inserisci partecipante parte dal gruppo scelto. Nome e cognome sono obbligatori. Raccogliere i dati disponibili, recapiti, eventuali figli e bisogni di accessibilità. Le scelte di presenza possono restare Non lo so ancora e l’accessibilità Non so / da verificare. Confermare il consenso solo dopo averlo effettivamente raccolto. Per i figli la dichiarazione comprende la responsabilità genitoriale o l’autorizzazione della persona. Il salvataggio assegna subito al gruppo scelto.</a:t>
            </a:r>
          </a:p>
          <a:p>
            <a:endParaRPr/>
          </a:p>
          <a:p>
            <a:r>
              <a:t>Riferimenti: lib/registrations/manual-registration.ts.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Preferire sempre l’email personale della persona. Con la scelta Voglio usare la mia email il capogruppo assume la gestione delle comunicazioni per quella persona e il campo email scompare. Non si deve scrivere l’email del capogruppo nel recapito della persona. La delega permette l’inserimento anche senza telefono. L’accesso personale diventa possibile quando si aggiunge l’email personale nella scheda. Aggiungerla non invia automaticamente un invito. La persona potrà chiedere il Magic Link dal sito.</a:t>
            </a:r>
          </a:p>
          <a:p>
            <a:endParaRPr/>
          </a:p>
          <a:p>
            <a:r>
              <a:t>Riferimenti: app/dashboard/capogruppo/manual-email-fields.tsx.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modulo manuale controlla somiglianze con iscrizioni esistenti. Il campo per spiegare che è una persona distinta va compilato solo dopo la segnalazione e una verifica con il manager. La motivazione prevista è di 3–500 caratteri. Il capogruppo non deve cercare di aggirare il controllo cambiando nome o recapito e non dispone qui del confronto/unione duplicati riservato alle aree operative manager/admin.</a:t>
            </a:r>
          </a:p>
          <a:p>
            <a:endParaRPr/>
          </a:p>
          <a:p>
            <a:r>
              <a:t>Riferimenti: lib/data-quality/manual-copy.ts, lib/registrations/manual-registration.ts.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campi filtro sono Nome o codice, Email o telefono, Gruppo e Tag. Il gruppo è utile quando se ne gestisce più di uno. I filtri aggiornano l’elenco. Per aprire la scheda si seleziona il nome sottolineato. Se una persona sembra mancare, usare Azzera prima di concludere che non è iscritta.</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Aprire Colonne visibili e spiegare che il nome resta sempre visibile. Email e telefono sono indipendenti. L’età è calcolata all’inizio dell’evento. Le preferenze restano salvate nel browser per quell’operatore. Le intestazioni ordinano le righe. Su telefono la tabella si scorre anche orizzontalmente.</a:t>
            </a:r>
          </a:p>
          <a:p>
            <a:endParaRPr/>
          </a:p>
          <a:p>
            <a:r>
              <a:t>Riferimenti: app/dashboard/capogruppo/participants-table.tsx.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Aprire la scheda dal nome. Identità e Contatti hanno salvataggi distinti. Si possono correggere nome, cognome, data di nascita, città, paese, email e telefono nei campi disponibili. L’elenco dei figli associati è consultabile nella scheda. La chiusura torna alla tabella conservando filtri e preferenze.</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scheda mostra il QR dell’iscritto selezionato, valido anche per i figli associati alla sua iscrizione. Scarica immagine salva un PNG con QR, nome completo e codice pubblico. L’anteprima contiene il solo QR. Il file si chiama, per esempio, qr-Anna-Bianchi.png. Se il QR non è disponibile, comunicare il codice del partecipante all’accoglienza. Il QR dimostrativo nella slide non consente accessi reali.</a:t>
            </a:r>
          </a:p>
          <a:p>
            <a:endParaRPr/>
          </a:p>
          <a:p>
            <a:r>
              <a:t>Riferimenti: app/dashboard/capogruppo/participant-qr.tsx.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note del capogruppo sono interne e hanno il comando Salva nota. I tag disponibili provengono dal catalogo dell’evento predisposto dal manager. Il capogruppo può assegnarli e rimuoverli dalla scheda e deve salvare. Servizio e stato sono in sola lettura dall’8 settembre 2026. Per modificarli deve intervenire un manager o admin. Non promettere invii email dal salvataggio di note o tag.</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Questo comando si usa soltanto per una persona che non appartiene al gruppo. La conferma sposta la scheda in Senza gruppo e non elimina l’iscrizione. Soltanto un admin o manager può assegnarla di nuovo. Le persone nell’elenco sono già assegnate: non esiste un passaggio ordinario di conferma di tutte le righe. L’operazione non manda un messaggio automatico al partecipante.</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 pulsante Esporta iscritti produce partecipanti-gruppo.xlsx con un solo foglio. Esporta tutte le righe corrispondenti ai filtri, le colonne visibili nello stesso ordine e lo stesso ordinamento scelto. Il contenuto resta limitato ai gruppi che il capogruppo può vedere. Non è un file di importazione: l’import Excel appartiene all’area manager/admin. Usare e condividere i recapiti soltanto per le attività dell’evento.</a:t>
            </a:r>
          </a:p>
          <a:p>
            <a:endParaRPr/>
          </a:p>
          <a:p>
            <a:r>
              <a:t>Riferimenti: app/dashboard/capogruppo/export/route.ts.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Usare questa slide per domande frequenti. Se l’elenco è vuoto, verificare prima i filtri con Azzera. Gruppi e incarichi mancanti richiedono manager/admin. Le nuove assegnazioni dopo un rifiuto richiedono manager/admin. La modifica di servizio/stato, l’unione duplicati e l’archivio sono fuori dai comandi del capogruppo. Per un QR indisponibile, fornire il codice pubblico all’accoglienza.</a:t>
            </a:r>
          </a:p>
          <a:p>
            <a:endParaRPr/>
          </a:p>
          <a:p>
            <a:r>
              <a:t>Riferimenti: app/dashboard/capogruppo/page.tsx.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Esercitazione guidata finale. Eseguire ricerca, apertura e chiusura della scheda, modifica della sola visualizzazione e download su un ambiente dimostrativo. Non usare l’esercitazione per salvare dati fittizi, rimuovere assegnazioni o iscrivere persone reali. Invitare ogni capogruppo a controllare anche la propria iscrizione personale.</a:t>
            </a:r>
          </a:p>
          <a:p>
            <a:endParaRPr/>
          </a:p>
          <a:p>
            <a:r>
              <a:t>Riferimenti: AGENTS.md. Repository iscrizioni-pace, main, versione dell’8 settembre 2026. Le schermate con nomi e recapiti sono esempi dimostrativi.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F4E"/>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6D680904-17BE-4CFA-9EFF-244245CD2C2D}"/>
              </a:ext>
            </a:extLst>
          </p:cNvPr>
          <p:cNvSpPr>
            <a:spLocks noGrp="1"/>
          </p:cNvSpPr>
          <p:nvPr/>
        </p:nvSpPr>
        <p:spPr>
          <a:xfrm>
            <a:off x="609600" y="2019300"/>
            <a:ext cx="8572500" cy="1600200"/>
          </a:xfrm>
          <a:prstGeom prst="rect">
            <a:avLst/>
          </a:prstGeom>
          <a:noFill/>
          <a:ln w="0">
            <a:noFill/>
          </a:ln>
        </p:spPr>
        <p:txBody>
          <a:bodyPr>
            <a:noAutofit/>
          </a:bodyPr>
          <a:lstStyle/>
          <a:p>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La dashboard</a:t>
            </a:r>
          </a:p>
          <a:p>
            <a:pPr>
              <a:defRPr sz="4950" b="1">
                <a:solidFill>
                  <a:srgbClr val="FFFFFF"/>
                </a:solidFill>
                <a:latin typeface="Helvetica Neue"/>
                <a:ea typeface="Helvetica Neue"/>
                <a:cs typeface="Helvetica Neue"/>
              </a:defRPr>
            </a:pPr>
            <a:r>
              <a:rPr sz="4950" b="1">
                <a:solidFill>
                  <a:srgbClr val="FFFFFF"/>
                </a:solidFill>
                <a:latin typeface="Helvetica Neue"/>
                <a:ea typeface="Helvetica Neue"/>
                <a:cs typeface="Helvetica Neue"/>
              </a:rPr>
              <a:t>del capogruppo</a:t>
            </a:r>
          </a:p>
        </p:txBody>
      </p:sp>
      <p:sp>
        <p:nvSpPr>
          <p:cNvPr id="2" name="Rettangolo 1">
            <a:extLst>
              <a:ext uri="{FF2B5EF4-FFF2-40B4-BE49-F238E27FC236}">
                <a16:creationId xmlns:a16="http://schemas.microsoft.com/office/drawing/2014/main" id="{07691132-7981-4466-953A-11C72E0BB787}"/>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BDCEDA"/>
                </a:solidFill>
                <a:latin typeface="Helvetica Neue"/>
                <a:ea typeface="Helvetica Neue"/>
                <a:cs typeface="Helvetica Neue"/>
              </a:defRPr>
            </a:pPr>
            <a:r>
              <a:rPr sz="1200" b="0">
                <a:solidFill>
                  <a:srgbClr val="BDCEDA"/>
                </a:solidFill>
                <a:latin typeface="Helvetica Neue"/>
                <a:ea typeface="Helvetica Neue"/>
                <a:cs typeface="Helvetica Neue"/>
              </a:rPr>
              <a:t>01</a:t>
            </a:r>
          </a:p>
        </p:txBody>
      </p:sp>
      <p:pic>
        <p:nvPicPr>
          <p:cNvPr id="8" name="Immagine 7"/>
          <p:cNvPicPr>
            <a:picLocks noChangeAspect="1"/>
          </p:cNvPicPr>
          <p:nvPr/>
        </p:nvPicPr>
        <p:blipFill>
          <a:blip r:embed="rId3"/>
          <a:stretch/>
        </p:blipFill>
        <p:spPr>
          <a:xfrm>
            <a:off x="1095700" y="457200"/>
            <a:ext cx="1218550" cy="762000"/>
          </a:xfrm>
          <a:prstGeom prst="rect">
            <a:avLst/>
          </a:prstGeom>
        </p:spPr>
      </p:pic>
      <p:sp>
        <p:nvSpPr>
          <p:cNvPr id="4" name="Rettangolo 3">
            <a:extLst>
              <a:ext uri="{FF2B5EF4-FFF2-40B4-BE49-F238E27FC236}">
                <a16:creationId xmlns:a16="http://schemas.microsoft.com/office/drawing/2014/main" id="{0D4B5115-E39D-44C5-BC0E-EB0A6154D498}"/>
              </a:ext>
            </a:extLst>
          </p:cNvPr>
          <p:cNvSpPr>
            <a:spLocks noGrp="1"/>
          </p:cNvSpPr>
          <p:nvPr/>
        </p:nvSpPr>
        <p:spPr>
          <a:xfrm>
            <a:off x="647700" y="3905250"/>
            <a:ext cx="10191750" cy="800100"/>
          </a:xfrm>
          <a:prstGeom prst="rect">
            <a:avLst/>
          </a:prstGeom>
          <a:noFill/>
          <a:ln w="0">
            <a:noFill/>
          </a:ln>
        </p:spPr>
        <p:txBody>
          <a:bodyPr>
            <a:noAutofit/>
          </a:bodyPr>
          <a:lstStyle/>
          <a:p>
            <a:pPr>
              <a:defRPr sz="2250" b="0">
                <a:solidFill>
                  <a:srgbClr val="E3EDF4"/>
                </a:solidFill>
                <a:latin typeface="Helvetica Neue"/>
                <a:ea typeface="Helvetica Neue"/>
                <a:cs typeface="Helvetica Neue"/>
              </a:defRPr>
            </a:pPr>
            <a:r>
              <a:rPr sz="2250" b="0">
                <a:solidFill>
                  <a:srgbClr val="E3EDF4"/>
                </a:solidFill>
                <a:latin typeface="Helvetica Neue"/>
                <a:ea typeface="Helvetica Neue"/>
                <a:cs typeface="Helvetica Neue"/>
              </a:rPr>
              <a:t>Guida pratica per gestire le iscrizioni del proprio gruppo</a:t>
            </a:r>
          </a:p>
        </p:txBody>
      </p:sp>
      <p:sp>
        <p:nvSpPr>
          <p:cNvPr id="5" name="Rettangolo 4">
            <a:extLst>
              <a:ext uri="{FF2B5EF4-FFF2-40B4-BE49-F238E27FC236}">
                <a16:creationId xmlns:a16="http://schemas.microsoft.com/office/drawing/2014/main" id="{C5DAF004-E085-418E-BBEC-CF856ABEEE4F}"/>
              </a:ext>
            </a:extLst>
          </p:cNvPr>
          <p:cNvSpPr>
            <a:spLocks noGrp="1"/>
          </p:cNvSpPr>
          <p:nvPr/>
        </p:nvSpPr>
        <p:spPr>
          <a:xfrm>
            <a:off x="647700" y="5457825"/>
            <a:ext cx="9048750" cy="619125"/>
          </a:xfrm>
          <a:prstGeom prst="rect">
            <a:avLst/>
          </a:prstGeom>
          <a:noFill/>
          <a:ln w="0">
            <a:noFill/>
          </a:ln>
        </p:spPr>
        <p:txBody>
          <a:bodyPr>
            <a:noAutofit/>
          </a:bodyPr>
          <a:lstStyle/>
          <a:p>
            <a:pPr>
              <a:defRPr sz="1650" b="0">
                <a:solidFill>
                  <a:srgbClr val="BDCEDA"/>
                </a:solidFill>
                <a:latin typeface="Helvetica Neue"/>
                <a:ea typeface="Helvetica Neue"/>
                <a:cs typeface="Helvetica Neue"/>
              </a:defRPr>
            </a:pPr>
            <a:r>
              <a:rPr sz="1650" b="0">
                <a:solidFill>
                  <a:srgbClr val="BDCEDA"/>
                </a:solidFill>
                <a:latin typeface="Helvetica Neue"/>
                <a:ea typeface="Helvetica Neue"/>
                <a:cs typeface="Helvetica Neue"/>
              </a:rPr>
              <a:t>Preghiera per la Pace</a:t>
            </a:r>
          </a:p>
          <a:p>
            <a:pPr>
              <a:defRPr sz="1650" b="0">
                <a:solidFill>
                  <a:srgbClr val="BDCEDA"/>
                </a:solidFill>
                <a:latin typeface="Helvetica Neue"/>
                <a:ea typeface="Helvetica Neue"/>
                <a:cs typeface="Helvetica Neue"/>
              </a:defRPr>
            </a:pPr>
            <a:r>
              <a:rPr sz="1650" b="0">
                <a:solidFill>
                  <a:srgbClr val="BDCEDA"/>
                </a:solidFill>
                <a:latin typeface="Helvetica Neue"/>
                <a:ea typeface="Helvetica Neue"/>
                <a:cs typeface="Helvetica Neue"/>
              </a:rPr>
              <a:t>8 settembre 2026</a:t>
            </a:r>
          </a:p>
        </p:txBody>
      </p:sp>
    </p:spTree>
    <p:extLst>
      <p:ext uri="{BB962C8B-B14F-4D97-AF65-F5344CB8AC3E}">
        <p14:creationId xmlns:p14="http://schemas.microsoft.com/office/powerpoint/2010/main" val="391884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15BA8449-B2B1-4049-83E3-3E6934B76D58}"/>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Accesso alla propria area</a:t>
            </a:r>
          </a:p>
        </p:txBody>
      </p:sp>
      <p:sp>
        <p:nvSpPr>
          <p:cNvPr id="2" name="Rettangolo 1">
            <a:extLst>
              <a:ext uri="{FF2B5EF4-FFF2-40B4-BE49-F238E27FC236}">
                <a16:creationId xmlns:a16="http://schemas.microsoft.com/office/drawing/2014/main" id="{6916EFFF-E7A7-452D-8C69-C93B24254B20}"/>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02</a:t>
            </a:r>
          </a:p>
        </p:txBody>
      </p:sp>
      <p:sp>
        <p:nvSpPr>
          <p:cNvPr id="3" name="Rettangolo 2">
            <a:extLst>
              <a:ext uri="{FF2B5EF4-FFF2-40B4-BE49-F238E27FC236}">
                <a16:creationId xmlns:a16="http://schemas.microsoft.com/office/drawing/2014/main" id="{32073107-2861-4A5D-942C-6C1B106B1A64}"/>
              </a:ext>
            </a:extLst>
          </p:cNvPr>
          <p:cNvSpPr>
            <a:spLocks noGrp="1"/>
          </p:cNvSpPr>
          <p:nvPr/>
        </p:nvSpPr>
        <p:spPr>
          <a:xfrm>
            <a:off x="609600" y="1304925"/>
            <a:ext cx="10953750" cy="457200"/>
          </a:xfrm>
          <a:prstGeom prst="rect">
            <a:avLst/>
          </a:prstGeom>
          <a:noFill/>
          <a:ln w="0">
            <a:noFill/>
          </a:ln>
        </p:spPr>
        <p:txBody>
          <a:bodyPr>
            <a:noAutofit/>
          </a:bodyPr>
          <a:lstStyle/>
          <a:p>
            <a:pPr>
              <a:defRPr sz="2400" b="1">
                <a:solidFill>
                  <a:srgbClr val="176899"/>
                </a:solidFill>
                <a:latin typeface="Helvetica Neue"/>
                <a:ea typeface="Helvetica Neue"/>
                <a:cs typeface="Helvetica Neue"/>
              </a:defRPr>
            </a:pPr>
            <a:r>
              <a:rPr sz="2400" b="1">
                <a:solidFill>
                  <a:srgbClr val="176899"/>
                </a:solidFill>
                <a:latin typeface="Helvetica Neue"/>
                <a:ea typeface="Helvetica Neue"/>
                <a:cs typeface="Helvetica Neue"/>
              </a:rPr>
              <a:t>registrationspeace.santegidio.org</a:t>
            </a:r>
          </a:p>
        </p:txBody>
      </p:sp>
      <p:sp>
        <p:nvSpPr>
          <p:cNvPr id="4" name="Rettangolo 3">
            <a:extLst>
              <a:ext uri="{FF2B5EF4-FFF2-40B4-BE49-F238E27FC236}">
                <a16:creationId xmlns:a16="http://schemas.microsoft.com/office/drawing/2014/main" id="{5525EC71-0992-4E94-A1E9-87CA2DE8C866}"/>
              </a:ext>
            </a:extLst>
          </p:cNvPr>
          <p:cNvSpPr>
            <a:spLocks noGrp="1"/>
          </p:cNvSpPr>
          <p:nvPr/>
        </p:nvSpPr>
        <p:spPr>
          <a:xfrm>
            <a:off x="609600" y="209550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947DF63C-0FE8-4021-83D7-C90893C7180D}"/>
              </a:ext>
            </a:extLst>
          </p:cNvPr>
          <p:cNvSpPr>
            <a:spLocks noGrp="1"/>
          </p:cNvSpPr>
          <p:nvPr/>
        </p:nvSpPr>
        <p:spPr>
          <a:xfrm>
            <a:off x="1333500" y="209550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L’email del capogruppo</a:t>
            </a:r>
          </a:p>
        </p:txBody>
      </p:sp>
      <p:sp>
        <p:nvSpPr>
          <p:cNvPr id="6" name="Rettangolo 5">
            <a:extLst>
              <a:ext uri="{FF2B5EF4-FFF2-40B4-BE49-F238E27FC236}">
                <a16:creationId xmlns:a16="http://schemas.microsoft.com/office/drawing/2014/main" id="{67F6A576-B50F-4496-89DB-6127B73C709A}"/>
              </a:ext>
            </a:extLst>
          </p:cNvPr>
          <p:cNvSpPr>
            <a:spLocks noGrp="1"/>
          </p:cNvSpPr>
          <p:nvPr/>
        </p:nvSpPr>
        <p:spPr>
          <a:xfrm>
            <a:off x="1333500" y="255270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Inserisci l’indirizzo collegato al tuo incarico.</a:t>
            </a:r>
          </a:p>
        </p:txBody>
      </p:sp>
      <p:sp>
        <p:nvSpPr>
          <p:cNvPr id="7" name="Rettangolo 6">
            <a:extLst>
              <a:ext uri="{FF2B5EF4-FFF2-40B4-BE49-F238E27FC236}">
                <a16:creationId xmlns:a16="http://schemas.microsoft.com/office/drawing/2014/main" id="{EF8CD46A-A529-41C8-8201-D942273EAD57}"/>
              </a:ext>
            </a:extLst>
          </p:cNvPr>
          <p:cNvSpPr>
            <a:spLocks noGrp="1"/>
          </p:cNvSpPr>
          <p:nvPr/>
        </p:nvSpPr>
        <p:spPr>
          <a:xfrm>
            <a:off x="609600" y="3381375"/>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8" name="Rettangolo 7">
            <a:extLst>
              <a:ext uri="{FF2B5EF4-FFF2-40B4-BE49-F238E27FC236}">
                <a16:creationId xmlns:a16="http://schemas.microsoft.com/office/drawing/2014/main" id="{13DB87FF-DD22-4AF6-970C-E7ACE3AA6026}"/>
              </a:ext>
            </a:extLst>
          </p:cNvPr>
          <p:cNvSpPr>
            <a:spLocks noGrp="1"/>
          </p:cNvSpPr>
          <p:nvPr/>
        </p:nvSpPr>
        <p:spPr>
          <a:xfrm>
            <a:off x="1333500" y="3381375"/>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Il link ricevuto per email</a:t>
            </a:r>
          </a:p>
        </p:txBody>
      </p:sp>
      <p:sp>
        <p:nvSpPr>
          <p:cNvPr id="9" name="Rettangolo 8">
            <a:extLst>
              <a:ext uri="{FF2B5EF4-FFF2-40B4-BE49-F238E27FC236}">
                <a16:creationId xmlns:a16="http://schemas.microsoft.com/office/drawing/2014/main" id="{251C41E1-7746-4E6F-92AB-A96ADAA99726}"/>
              </a:ext>
            </a:extLst>
          </p:cNvPr>
          <p:cNvSpPr>
            <a:spLocks noGrp="1"/>
          </p:cNvSpPr>
          <p:nvPr/>
        </p:nvSpPr>
        <p:spPr>
          <a:xfrm>
            <a:off x="1333500" y="3838575"/>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Apri il messaggio e segui il collegamento per accedere. Controlla anche lo spam.</a:t>
            </a:r>
          </a:p>
        </p:txBody>
      </p:sp>
      <p:sp>
        <p:nvSpPr>
          <p:cNvPr id="10" name="Rettangolo 9">
            <a:extLst>
              <a:ext uri="{FF2B5EF4-FFF2-40B4-BE49-F238E27FC236}">
                <a16:creationId xmlns:a16="http://schemas.microsoft.com/office/drawing/2014/main" id="{D6EBE7D3-2D07-4D14-896E-2208254FC283}"/>
              </a:ext>
            </a:extLst>
          </p:cNvPr>
          <p:cNvSpPr>
            <a:spLocks noGrp="1"/>
          </p:cNvSpPr>
          <p:nvPr/>
        </p:nvSpPr>
        <p:spPr>
          <a:xfrm>
            <a:off x="609600" y="46672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03</a:t>
            </a:r>
          </a:p>
        </p:txBody>
      </p:sp>
      <p:sp>
        <p:nvSpPr>
          <p:cNvPr id="11" name="Rettangolo 10">
            <a:extLst>
              <a:ext uri="{FF2B5EF4-FFF2-40B4-BE49-F238E27FC236}">
                <a16:creationId xmlns:a16="http://schemas.microsoft.com/office/drawing/2014/main" id="{776C5EB6-2CFF-41BA-8323-A237DB0350BF}"/>
              </a:ext>
            </a:extLst>
          </p:cNvPr>
          <p:cNvSpPr>
            <a:spLocks noGrp="1"/>
          </p:cNvSpPr>
          <p:nvPr/>
        </p:nvSpPr>
        <p:spPr>
          <a:xfrm>
            <a:off x="1333500" y="466725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Area Capogruppo e iscrizione personale</a:t>
            </a:r>
          </a:p>
        </p:txBody>
      </p:sp>
      <p:sp>
        <p:nvSpPr>
          <p:cNvPr id="12" name="Rettangolo 11">
            <a:extLst>
              <a:ext uri="{FF2B5EF4-FFF2-40B4-BE49-F238E27FC236}">
                <a16:creationId xmlns:a16="http://schemas.microsoft.com/office/drawing/2014/main" id="{A64EB0C2-0CEE-459F-9BAF-82002765E09A}"/>
              </a:ext>
            </a:extLst>
          </p:cNvPr>
          <p:cNvSpPr>
            <a:spLocks noGrp="1"/>
          </p:cNvSpPr>
          <p:nvPr/>
        </p:nvSpPr>
        <p:spPr>
          <a:xfrm>
            <a:off x="1333500" y="512445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Usa Capogruppo per gli iscritti. In “La mia iscrizione” trovi i tuoi dati e il tuo QR.</a:t>
            </a:r>
          </a:p>
        </p:txBody>
      </p:sp>
    </p:spTree>
    <p:extLst>
      <p:ext uri="{BB962C8B-B14F-4D97-AF65-F5344CB8AC3E}">
        <p14:creationId xmlns:p14="http://schemas.microsoft.com/office/powerpoint/2010/main" val="1348624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7DFBFB6F-A9FE-4048-AC6E-BEAAE3860C1B}"/>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I tuoi gruppi</a:t>
            </a:r>
          </a:p>
        </p:txBody>
      </p:sp>
      <p:sp>
        <p:nvSpPr>
          <p:cNvPr id="2" name="Rettangolo 1">
            <a:extLst>
              <a:ext uri="{FF2B5EF4-FFF2-40B4-BE49-F238E27FC236}">
                <a16:creationId xmlns:a16="http://schemas.microsoft.com/office/drawing/2014/main" id="{6E2C3A48-7F46-445C-BF3F-DACE1341D6ED}"/>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03</a:t>
            </a:r>
          </a:p>
        </p:txBody>
      </p:sp>
      <p:pic>
        <p:nvPicPr>
          <p:cNvPr id="9" name="Immagine 8"/>
          <p:cNvPicPr>
            <a:picLocks noChangeAspect="1"/>
          </p:cNvPicPr>
          <p:nvPr/>
        </p:nvPicPr>
        <p:blipFill>
          <a:blip r:embed="rId3"/>
          <a:stretch/>
        </p:blipFill>
        <p:spPr>
          <a:xfrm>
            <a:off x="1275375" y="1419225"/>
            <a:ext cx="9641250" cy="2857500"/>
          </a:xfrm>
          <a:prstGeom prst="rect">
            <a:avLst/>
          </a:prstGeom>
        </p:spPr>
      </p:pic>
      <p:sp>
        <p:nvSpPr>
          <p:cNvPr id="4" name="Rettangolo 3">
            <a:extLst>
              <a:ext uri="{FF2B5EF4-FFF2-40B4-BE49-F238E27FC236}">
                <a16:creationId xmlns:a16="http://schemas.microsoft.com/office/drawing/2014/main" id="{C530F56F-4CC0-4A67-8826-EE21F7698D11}"/>
              </a:ext>
            </a:extLst>
          </p:cNvPr>
          <p:cNvSpPr>
            <a:spLocks noGrp="1"/>
          </p:cNvSpPr>
          <p:nvPr/>
        </p:nvSpPr>
        <p:spPr>
          <a:xfrm>
            <a:off x="609600" y="4629150"/>
            <a:ext cx="10572750" cy="409575"/>
          </a:xfrm>
          <a:prstGeom prst="rect">
            <a:avLst/>
          </a:prstGeom>
          <a:noFill/>
          <a:ln w="0">
            <a:noFill/>
          </a:ln>
        </p:spPr>
        <p:txBody>
          <a:bodyPr>
            <a:noAutofit/>
          </a:bodyPr>
          <a:lstStyle/>
          <a:p>
            <a:pPr>
              <a:defRPr sz="2250" b="1">
                <a:solidFill>
                  <a:srgbClr val="176899"/>
                </a:solidFill>
                <a:latin typeface="Helvetica Neue"/>
                <a:ea typeface="Helvetica Neue"/>
                <a:cs typeface="Helvetica Neue"/>
              </a:defRPr>
            </a:pPr>
            <a:r>
              <a:rPr sz="2250" b="1">
                <a:solidFill>
                  <a:srgbClr val="176899"/>
                </a:solidFill>
                <a:latin typeface="Helvetica Neue"/>
                <a:ea typeface="Helvetica Neue"/>
                <a:cs typeface="Helvetica Neue"/>
              </a:rPr>
              <a:t>Ogni gruppo ha i propri comandi</a:t>
            </a:r>
          </a:p>
        </p:txBody>
      </p:sp>
      <p:sp>
        <p:nvSpPr>
          <p:cNvPr id="5" name="Rettangolo 4">
            <a:extLst>
              <a:ext uri="{FF2B5EF4-FFF2-40B4-BE49-F238E27FC236}">
                <a16:creationId xmlns:a16="http://schemas.microsoft.com/office/drawing/2014/main" id="{B6522E7F-9266-4308-ADD5-33FFC0EDD0D3}"/>
              </a:ext>
            </a:extLst>
          </p:cNvPr>
          <p:cNvSpPr>
            <a:spLocks noGrp="1"/>
          </p:cNvSpPr>
          <p:nvPr/>
        </p:nvSpPr>
        <p:spPr>
          <a:xfrm>
            <a:off x="609600" y="5181600"/>
            <a:ext cx="10668000" cy="781050"/>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“Gestisci link” apre il collegamento da condividere.</a:t>
            </a:r>
          </a:p>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“Inserisci partecipante” apre il modulo per iscrivere una persona.</a:t>
            </a:r>
          </a:p>
        </p:txBody>
      </p:sp>
      <p:sp>
        <p:nvSpPr>
          <p:cNvPr id="6" name="Rettangolo 5">
            <a:extLst>
              <a:ext uri="{FF2B5EF4-FFF2-40B4-BE49-F238E27FC236}">
                <a16:creationId xmlns:a16="http://schemas.microsoft.com/office/drawing/2014/main" id="{0BADDD8B-6942-4500-BAB5-C628132E3E68}"/>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Schermata dimostrativa. I gruppi visibili dipendono dal tuo incarico.</a:t>
            </a:r>
          </a:p>
        </p:txBody>
      </p:sp>
    </p:spTree>
    <p:extLst>
      <p:ext uri="{BB962C8B-B14F-4D97-AF65-F5344CB8AC3E}">
        <p14:creationId xmlns:p14="http://schemas.microsoft.com/office/powerpoint/2010/main" val="391642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2D21BB4A-3945-47B4-B67A-97F27EEF5FB0}"/>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Il link di iscrizione del gruppo</a:t>
            </a:r>
          </a:p>
        </p:txBody>
      </p:sp>
      <p:sp>
        <p:nvSpPr>
          <p:cNvPr id="2" name="Rettangolo 1">
            <a:extLst>
              <a:ext uri="{FF2B5EF4-FFF2-40B4-BE49-F238E27FC236}">
                <a16:creationId xmlns:a16="http://schemas.microsoft.com/office/drawing/2014/main" id="{65B3F707-750C-4DE8-8F0C-30EFCA40891D}"/>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10</a:t>
            </a:r>
          </a:p>
        </p:txBody>
      </p:sp>
      <p:pic>
        <p:nvPicPr>
          <p:cNvPr id="10" name="Immagine 9"/>
          <p:cNvPicPr>
            <a:picLocks noChangeAspect="1"/>
          </p:cNvPicPr>
          <p:nvPr/>
        </p:nvPicPr>
        <p:blipFill>
          <a:blip r:embed="rId3"/>
          <a:stretch/>
        </p:blipFill>
        <p:spPr>
          <a:xfrm>
            <a:off x="2614770" y="1543050"/>
            <a:ext cx="6962460" cy="2295525"/>
          </a:xfrm>
          <a:prstGeom prst="rect">
            <a:avLst/>
          </a:prstGeom>
        </p:spPr>
      </p:pic>
      <p:sp>
        <p:nvSpPr>
          <p:cNvPr id="4" name="Rettangolo 3">
            <a:extLst>
              <a:ext uri="{FF2B5EF4-FFF2-40B4-BE49-F238E27FC236}">
                <a16:creationId xmlns:a16="http://schemas.microsoft.com/office/drawing/2014/main" id="{A025D58B-1341-4254-94E5-4EB7C9C64460}"/>
              </a:ext>
            </a:extLst>
          </p:cNvPr>
          <p:cNvSpPr>
            <a:spLocks noGrp="1"/>
          </p:cNvSpPr>
          <p:nvPr/>
        </p:nvSpPr>
        <p:spPr>
          <a:xfrm>
            <a:off x="609600" y="4048125"/>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3CD936FE-48DE-4F80-8A11-065BE0E7C824}"/>
              </a:ext>
            </a:extLst>
          </p:cNvPr>
          <p:cNvSpPr>
            <a:spLocks noGrp="1"/>
          </p:cNvSpPr>
          <p:nvPr/>
        </p:nvSpPr>
        <p:spPr>
          <a:xfrm>
            <a:off x="1333500" y="4048125"/>
            <a:ext cx="97536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Gestisci link, poi Copia link</a:t>
            </a:r>
          </a:p>
        </p:txBody>
      </p:sp>
      <p:sp>
        <p:nvSpPr>
          <p:cNvPr id="6" name="Rettangolo 5">
            <a:extLst>
              <a:ext uri="{FF2B5EF4-FFF2-40B4-BE49-F238E27FC236}">
                <a16:creationId xmlns:a16="http://schemas.microsoft.com/office/drawing/2014/main" id="{3D11E3BD-3B1D-41E6-9F35-8C2138EC8078}"/>
              </a:ext>
            </a:extLst>
          </p:cNvPr>
          <p:cNvSpPr>
            <a:spLocks noGrp="1"/>
          </p:cNvSpPr>
          <p:nvPr/>
        </p:nvSpPr>
        <p:spPr>
          <a:xfrm>
            <a:off x="1333500" y="4505325"/>
            <a:ext cx="97536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Condividi il link del gruppo con chi deve ancora iscriversi.</a:t>
            </a:r>
          </a:p>
        </p:txBody>
      </p:sp>
      <p:sp>
        <p:nvSpPr>
          <p:cNvPr id="7" name="Rettangolo 6">
            <a:extLst>
              <a:ext uri="{FF2B5EF4-FFF2-40B4-BE49-F238E27FC236}">
                <a16:creationId xmlns:a16="http://schemas.microsoft.com/office/drawing/2014/main" id="{7E18D320-CFAC-4A8F-8F4A-768796F343D7}"/>
              </a:ext>
            </a:extLst>
          </p:cNvPr>
          <p:cNvSpPr>
            <a:spLocks noGrp="1"/>
          </p:cNvSpPr>
          <p:nvPr/>
        </p:nvSpPr>
        <p:spPr>
          <a:xfrm>
            <a:off x="609600" y="5410200"/>
            <a:ext cx="10668000" cy="819150"/>
          </a:xfrm>
          <a:prstGeom prst="rect">
            <a:avLst/>
          </a:prstGeom>
          <a:noFill/>
          <a:ln w="0">
            <a:noFill/>
          </a:ln>
        </p:spPr>
        <p:txBody>
          <a:bodyPr>
            <a:noAutofit/>
          </a:bodyPr>
          <a:lstStyle/>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Il modulo mostra già il gruppo. Se cambi lo “Slug”, il vecchio indirizzo non funziona più.</a:t>
            </a:r>
          </a:p>
        </p:txBody>
      </p:sp>
    </p:spTree>
    <p:extLst>
      <p:ext uri="{BB962C8B-B14F-4D97-AF65-F5344CB8AC3E}">
        <p14:creationId xmlns:p14="http://schemas.microsoft.com/office/powerpoint/2010/main" val="55430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FD78EEB8-494E-4EE9-B063-136F3B1FE6D7}"/>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Inserimento manuale</a:t>
            </a:r>
          </a:p>
        </p:txBody>
      </p:sp>
      <p:sp>
        <p:nvSpPr>
          <p:cNvPr id="2" name="Rettangolo 1">
            <a:extLst>
              <a:ext uri="{FF2B5EF4-FFF2-40B4-BE49-F238E27FC236}">
                <a16:creationId xmlns:a16="http://schemas.microsoft.com/office/drawing/2014/main" id="{2A915F80-7B64-4406-A987-93842B22EEF5}"/>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11</a:t>
            </a:r>
          </a:p>
        </p:txBody>
      </p:sp>
      <p:sp>
        <p:nvSpPr>
          <p:cNvPr id="3" name="Rettangolo 2">
            <a:extLst>
              <a:ext uri="{FF2B5EF4-FFF2-40B4-BE49-F238E27FC236}">
                <a16:creationId xmlns:a16="http://schemas.microsoft.com/office/drawing/2014/main" id="{A6683C24-1F54-4596-8F8A-8E4FDA434068}"/>
              </a:ext>
            </a:extLst>
          </p:cNvPr>
          <p:cNvSpPr>
            <a:spLocks noGrp="1"/>
          </p:cNvSpPr>
          <p:nvPr/>
        </p:nvSpPr>
        <p:spPr>
          <a:xfrm>
            <a:off x="609600" y="13525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4" name="Rettangolo 3">
            <a:extLst>
              <a:ext uri="{FF2B5EF4-FFF2-40B4-BE49-F238E27FC236}">
                <a16:creationId xmlns:a16="http://schemas.microsoft.com/office/drawing/2014/main" id="{E0A2CCDF-2BBE-4954-ADC3-F76D1B714016}"/>
              </a:ext>
            </a:extLst>
          </p:cNvPr>
          <p:cNvSpPr>
            <a:spLocks noGrp="1"/>
          </p:cNvSpPr>
          <p:nvPr/>
        </p:nvSpPr>
        <p:spPr>
          <a:xfrm>
            <a:off x="1333500" y="135255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Ricerca prima dell’inserimento</a:t>
            </a:r>
          </a:p>
        </p:txBody>
      </p:sp>
      <p:sp>
        <p:nvSpPr>
          <p:cNvPr id="5" name="Rettangolo 4">
            <a:extLst>
              <a:ext uri="{FF2B5EF4-FFF2-40B4-BE49-F238E27FC236}">
                <a16:creationId xmlns:a16="http://schemas.microsoft.com/office/drawing/2014/main" id="{8F25CC42-E320-425E-AC2E-70875F74CD76}"/>
              </a:ext>
            </a:extLst>
          </p:cNvPr>
          <p:cNvSpPr>
            <a:spLocks noGrp="1"/>
          </p:cNvSpPr>
          <p:nvPr/>
        </p:nvSpPr>
        <p:spPr>
          <a:xfrm>
            <a:off x="1333500" y="180975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Controlla che la persona non sia già iscritta.</a:t>
            </a:r>
          </a:p>
        </p:txBody>
      </p:sp>
      <p:sp>
        <p:nvSpPr>
          <p:cNvPr id="6" name="Rettangolo 5">
            <a:extLst>
              <a:ext uri="{FF2B5EF4-FFF2-40B4-BE49-F238E27FC236}">
                <a16:creationId xmlns:a16="http://schemas.microsoft.com/office/drawing/2014/main" id="{B914D9D9-6E3F-4D7B-9147-059875A14AD4}"/>
              </a:ext>
            </a:extLst>
          </p:cNvPr>
          <p:cNvSpPr>
            <a:spLocks noGrp="1"/>
          </p:cNvSpPr>
          <p:nvPr/>
        </p:nvSpPr>
        <p:spPr>
          <a:xfrm>
            <a:off x="609600" y="262890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7" name="Rettangolo 6">
            <a:extLst>
              <a:ext uri="{FF2B5EF4-FFF2-40B4-BE49-F238E27FC236}">
                <a16:creationId xmlns:a16="http://schemas.microsoft.com/office/drawing/2014/main" id="{348819A7-D77B-4B8F-9A00-F8514783A6E3}"/>
              </a:ext>
            </a:extLst>
          </p:cNvPr>
          <p:cNvSpPr>
            <a:spLocks noGrp="1"/>
          </p:cNvSpPr>
          <p:nvPr/>
        </p:nvSpPr>
        <p:spPr>
          <a:xfrm>
            <a:off x="1333500" y="262890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Gruppo e dati della persona</a:t>
            </a:r>
          </a:p>
        </p:txBody>
      </p:sp>
      <p:sp>
        <p:nvSpPr>
          <p:cNvPr id="8" name="Rettangolo 7">
            <a:extLst>
              <a:ext uri="{FF2B5EF4-FFF2-40B4-BE49-F238E27FC236}">
                <a16:creationId xmlns:a16="http://schemas.microsoft.com/office/drawing/2014/main" id="{D38E577E-5EA0-496B-B211-23DD3C917B9B}"/>
              </a:ext>
            </a:extLst>
          </p:cNvPr>
          <p:cNvSpPr>
            <a:spLocks noGrp="1"/>
          </p:cNvSpPr>
          <p:nvPr/>
        </p:nvSpPr>
        <p:spPr>
          <a:xfrm>
            <a:off x="1333500" y="308610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Da “Inserisci partecipante” compila anagrafica, recapiti ed eventuali figli.</a:t>
            </a:r>
          </a:p>
        </p:txBody>
      </p:sp>
      <p:sp>
        <p:nvSpPr>
          <p:cNvPr id="9" name="Rettangolo 8">
            <a:extLst>
              <a:ext uri="{FF2B5EF4-FFF2-40B4-BE49-F238E27FC236}">
                <a16:creationId xmlns:a16="http://schemas.microsoft.com/office/drawing/2014/main" id="{601E60D2-E11B-4494-89C8-3196C02FEC0E}"/>
              </a:ext>
            </a:extLst>
          </p:cNvPr>
          <p:cNvSpPr>
            <a:spLocks noGrp="1"/>
          </p:cNvSpPr>
          <p:nvPr/>
        </p:nvSpPr>
        <p:spPr>
          <a:xfrm>
            <a:off x="609600" y="39052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03</a:t>
            </a:r>
          </a:p>
        </p:txBody>
      </p:sp>
      <p:sp>
        <p:nvSpPr>
          <p:cNvPr id="10" name="Rettangolo 9">
            <a:extLst>
              <a:ext uri="{FF2B5EF4-FFF2-40B4-BE49-F238E27FC236}">
                <a16:creationId xmlns:a16="http://schemas.microsoft.com/office/drawing/2014/main" id="{9846E29E-66C4-45C5-88D8-5B16F3FAA40B}"/>
              </a:ext>
            </a:extLst>
          </p:cNvPr>
          <p:cNvSpPr>
            <a:spLocks noGrp="1"/>
          </p:cNvSpPr>
          <p:nvPr/>
        </p:nvSpPr>
        <p:spPr>
          <a:xfrm>
            <a:off x="1333500" y="390525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Presenza e accessibilità</a:t>
            </a:r>
          </a:p>
        </p:txBody>
      </p:sp>
      <p:sp>
        <p:nvSpPr>
          <p:cNvPr id="11" name="Rettangolo 10">
            <a:extLst>
              <a:ext uri="{FF2B5EF4-FFF2-40B4-BE49-F238E27FC236}">
                <a16:creationId xmlns:a16="http://schemas.microsoft.com/office/drawing/2014/main" id="{9BBE9353-CDB1-4D7B-8395-3C1AD373EEFB}"/>
              </a:ext>
            </a:extLst>
          </p:cNvPr>
          <p:cNvSpPr>
            <a:spLocks noGrp="1"/>
          </p:cNvSpPr>
          <p:nvPr/>
        </p:nvSpPr>
        <p:spPr>
          <a:xfrm>
            <a:off x="1333500" y="436245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Inserisci ciò che conosci. Puoi lasciare le opzioni “Non so” dove previste.</a:t>
            </a:r>
          </a:p>
        </p:txBody>
      </p:sp>
      <p:sp>
        <p:nvSpPr>
          <p:cNvPr id="12" name="Rettangolo 11">
            <a:extLst>
              <a:ext uri="{FF2B5EF4-FFF2-40B4-BE49-F238E27FC236}">
                <a16:creationId xmlns:a16="http://schemas.microsoft.com/office/drawing/2014/main" id="{6E77DBB6-7BC5-4FED-94E5-E51E13A19774}"/>
              </a:ext>
            </a:extLst>
          </p:cNvPr>
          <p:cNvSpPr>
            <a:spLocks noGrp="1"/>
          </p:cNvSpPr>
          <p:nvPr/>
        </p:nvSpPr>
        <p:spPr>
          <a:xfrm>
            <a:off x="609600" y="5562600"/>
            <a:ext cx="10572750" cy="638175"/>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Prima di salvare, verifica i dati e conferma il consenso della persona.</a:t>
            </a:r>
          </a:p>
        </p:txBody>
      </p:sp>
    </p:spTree>
    <p:extLst>
      <p:ext uri="{BB962C8B-B14F-4D97-AF65-F5344CB8AC3E}">
        <p14:creationId xmlns:p14="http://schemas.microsoft.com/office/powerpoint/2010/main" val="1910209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530486A5-8A08-4BB0-92FF-BE0B39C26385}"/>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dirty="0" err="1">
                <a:solidFill>
                  <a:srgbClr val="102F4E"/>
                </a:solidFill>
                <a:latin typeface="Helvetica Neue"/>
                <a:ea typeface="Helvetica Neue"/>
                <a:cs typeface="Helvetica Neue"/>
              </a:rPr>
              <a:t>L’email</a:t>
            </a:r>
            <a:r>
              <a:rPr sz="3450" b="1" dirty="0">
                <a:solidFill>
                  <a:srgbClr val="102F4E"/>
                </a:solidFill>
                <a:latin typeface="Helvetica Neue"/>
                <a:ea typeface="Helvetica Neue"/>
                <a:cs typeface="Helvetica Neue"/>
              </a:rPr>
              <a:t> </a:t>
            </a:r>
            <a:r>
              <a:rPr sz="3450" b="1" dirty="0" err="1">
                <a:solidFill>
                  <a:srgbClr val="102F4E"/>
                </a:solidFill>
                <a:latin typeface="Helvetica Neue"/>
                <a:ea typeface="Helvetica Neue"/>
                <a:cs typeface="Helvetica Neue"/>
              </a:rPr>
              <a:t>nell’inserimento</a:t>
            </a:r>
            <a:r>
              <a:rPr sz="3450" b="1" dirty="0">
                <a:solidFill>
                  <a:srgbClr val="102F4E"/>
                </a:solidFill>
                <a:latin typeface="Helvetica Neue"/>
                <a:ea typeface="Helvetica Neue"/>
                <a:cs typeface="Helvetica Neue"/>
              </a:rPr>
              <a:t> </a:t>
            </a:r>
            <a:r>
              <a:rPr sz="3450" b="1" dirty="0" err="1">
                <a:solidFill>
                  <a:srgbClr val="102F4E"/>
                </a:solidFill>
                <a:latin typeface="Helvetica Neue"/>
                <a:ea typeface="Helvetica Neue"/>
                <a:cs typeface="Helvetica Neue"/>
              </a:rPr>
              <a:t>manuale</a:t>
            </a:r>
            <a:r>
              <a:rPr lang="it-IT" sz="3450" b="1" dirty="0">
                <a:solidFill>
                  <a:srgbClr val="102F4E"/>
                </a:solidFill>
                <a:latin typeface="Helvetica Neue"/>
                <a:ea typeface="Helvetica Neue"/>
                <a:cs typeface="Helvetica Neue"/>
              </a:rPr>
              <a:t> del partecipante</a:t>
            </a:r>
            <a:endParaRPr sz="3450" b="1" dirty="0">
              <a:solidFill>
                <a:srgbClr val="102F4E"/>
              </a:solidFill>
              <a:latin typeface="Helvetica Neue"/>
              <a:ea typeface="Helvetica Neue"/>
              <a:cs typeface="Helvetica Neue"/>
            </a:endParaRPr>
          </a:p>
        </p:txBody>
      </p:sp>
      <p:sp>
        <p:nvSpPr>
          <p:cNvPr id="2" name="Rettangolo 1">
            <a:extLst>
              <a:ext uri="{FF2B5EF4-FFF2-40B4-BE49-F238E27FC236}">
                <a16:creationId xmlns:a16="http://schemas.microsoft.com/office/drawing/2014/main" id="{6FDB0C9E-D9C4-4BA7-A166-FF0D41EDEA9B}"/>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12</a:t>
            </a:r>
          </a:p>
        </p:txBody>
      </p:sp>
      <p:sp>
        <p:nvSpPr>
          <p:cNvPr id="3" name="Rettangolo 2">
            <a:extLst>
              <a:ext uri="{FF2B5EF4-FFF2-40B4-BE49-F238E27FC236}">
                <a16:creationId xmlns:a16="http://schemas.microsoft.com/office/drawing/2014/main" id="{88FB7EFD-D531-4413-AB4B-73EA91525F4C}"/>
              </a:ext>
            </a:extLst>
          </p:cNvPr>
          <p:cNvSpPr>
            <a:spLocks noGrp="1"/>
          </p:cNvSpPr>
          <p:nvPr/>
        </p:nvSpPr>
        <p:spPr>
          <a:xfrm>
            <a:off x="609600" y="1371600"/>
            <a:ext cx="10668000" cy="419100"/>
          </a:xfrm>
          <a:prstGeom prst="rect">
            <a:avLst/>
          </a:prstGeom>
          <a:noFill/>
          <a:ln w="0">
            <a:noFill/>
          </a:ln>
        </p:spPr>
        <p:txBody>
          <a:bodyPr>
            <a:noAutofit/>
          </a:bodyPr>
          <a:lstStyle/>
          <a:p>
            <a:pPr>
              <a:defRPr sz="2325" b="1">
                <a:solidFill>
                  <a:srgbClr val="176899"/>
                </a:solidFill>
                <a:latin typeface="Helvetica Neue"/>
                <a:ea typeface="Helvetica Neue"/>
                <a:cs typeface="Helvetica Neue"/>
              </a:defRPr>
            </a:pPr>
            <a:r>
              <a:rPr sz="2325" b="1" dirty="0">
                <a:solidFill>
                  <a:srgbClr val="176899"/>
                </a:solidFill>
                <a:latin typeface="Helvetica Neue"/>
                <a:ea typeface="Helvetica Neue"/>
                <a:cs typeface="Helvetica Neue"/>
              </a:rPr>
              <a:t>La persona </a:t>
            </a:r>
            <a:r>
              <a:rPr lang="it-IT" sz="2325" b="1" dirty="0">
                <a:solidFill>
                  <a:srgbClr val="176899"/>
                </a:solidFill>
                <a:latin typeface="Helvetica Neue"/>
                <a:ea typeface="Helvetica Neue"/>
                <a:cs typeface="Helvetica Neue"/>
              </a:rPr>
              <a:t>vuole utilizzare la sua email</a:t>
            </a:r>
            <a:endParaRPr sz="2325" b="1" dirty="0">
              <a:solidFill>
                <a:srgbClr val="176899"/>
              </a:solidFill>
              <a:latin typeface="Helvetica Neue"/>
              <a:ea typeface="Helvetica Neue"/>
              <a:cs typeface="Helvetica Neue"/>
            </a:endParaRPr>
          </a:p>
        </p:txBody>
      </p:sp>
      <p:pic>
        <p:nvPicPr>
          <p:cNvPr id="11" name="Immagine 10"/>
          <p:cNvPicPr>
            <a:picLocks noChangeAspect="1"/>
          </p:cNvPicPr>
          <p:nvPr/>
        </p:nvPicPr>
        <p:blipFill>
          <a:blip r:embed="rId3"/>
          <a:stretch/>
        </p:blipFill>
        <p:spPr>
          <a:xfrm>
            <a:off x="609600" y="2150052"/>
            <a:ext cx="10972800" cy="1433945"/>
          </a:xfrm>
          <a:prstGeom prst="rect">
            <a:avLst/>
          </a:prstGeom>
        </p:spPr>
      </p:pic>
      <p:sp>
        <p:nvSpPr>
          <p:cNvPr id="5" name="Rettangolo 4">
            <a:extLst>
              <a:ext uri="{FF2B5EF4-FFF2-40B4-BE49-F238E27FC236}">
                <a16:creationId xmlns:a16="http://schemas.microsoft.com/office/drawing/2014/main" id="{77939AD0-3D0F-40B8-A028-4A6D19C5A438}"/>
              </a:ext>
            </a:extLst>
          </p:cNvPr>
          <p:cNvSpPr>
            <a:spLocks noGrp="1"/>
          </p:cNvSpPr>
          <p:nvPr/>
        </p:nvSpPr>
        <p:spPr>
          <a:xfrm>
            <a:off x="609600" y="4114800"/>
            <a:ext cx="10668000" cy="419100"/>
          </a:xfrm>
          <a:prstGeom prst="rect">
            <a:avLst/>
          </a:prstGeom>
          <a:noFill/>
          <a:ln w="0">
            <a:noFill/>
          </a:ln>
        </p:spPr>
        <p:txBody>
          <a:bodyPr>
            <a:noAutofit/>
          </a:bodyPr>
          <a:lstStyle/>
          <a:p>
            <a:pPr>
              <a:defRPr sz="2325" b="1">
                <a:solidFill>
                  <a:srgbClr val="176899"/>
                </a:solidFill>
                <a:latin typeface="Helvetica Neue"/>
                <a:ea typeface="Helvetica Neue"/>
                <a:cs typeface="Helvetica Neue"/>
              </a:defRPr>
            </a:pPr>
            <a:r>
              <a:rPr sz="2325" b="1">
                <a:solidFill>
                  <a:srgbClr val="176899"/>
                </a:solidFill>
                <a:latin typeface="Helvetica Neue"/>
                <a:ea typeface="Helvetica Neue"/>
                <a:cs typeface="Helvetica Neue"/>
              </a:rPr>
              <a:t>La persona affida a te le comunicazioni</a:t>
            </a:r>
          </a:p>
        </p:txBody>
      </p:sp>
      <p:pic>
        <p:nvPicPr>
          <p:cNvPr id="13" name="Immagine 12"/>
          <p:cNvPicPr>
            <a:picLocks noChangeAspect="1"/>
          </p:cNvPicPr>
          <p:nvPr/>
        </p:nvPicPr>
        <p:blipFill>
          <a:blip r:embed="rId4"/>
          <a:stretch/>
        </p:blipFill>
        <p:spPr>
          <a:xfrm>
            <a:off x="609600" y="4826577"/>
            <a:ext cx="10972800" cy="748145"/>
          </a:xfrm>
          <a:prstGeom prst="rect">
            <a:avLst/>
          </a:prstGeom>
        </p:spPr>
      </p:pic>
      <p:sp>
        <p:nvSpPr>
          <p:cNvPr id="7" name="Rettangolo 6">
            <a:extLst>
              <a:ext uri="{FF2B5EF4-FFF2-40B4-BE49-F238E27FC236}">
                <a16:creationId xmlns:a16="http://schemas.microsoft.com/office/drawing/2014/main" id="{A535A068-896B-4CDD-AE5C-FDB9FE1809BE}"/>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Per attivare in seguito il suo accesso, aggiungi la sua email personale nella scheda.</a:t>
            </a:r>
          </a:p>
        </p:txBody>
      </p:sp>
    </p:spTree>
    <p:extLst>
      <p:ext uri="{BB962C8B-B14F-4D97-AF65-F5344CB8AC3E}">
        <p14:creationId xmlns:p14="http://schemas.microsoft.com/office/powerpoint/2010/main" val="1026427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A6EA8BC8-CD78-415F-9710-1F0C57C7FFB0}"/>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Un avviso di possibile duplicato</a:t>
            </a:r>
          </a:p>
        </p:txBody>
      </p:sp>
      <p:sp>
        <p:nvSpPr>
          <p:cNvPr id="2" name="Rettangolo 1">
            <a:extLst>
              <a:ext uri="{FF2B5EF4-FFF2-40B4-BE49-F238E27FC236}">
                <a16:creationId xmlns:a16="http://schemas.microsoft.com/office/drawing/2014/main" id="{20787C63-385C-449C-A6EB-A9923E7C34A9}"/>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13</a:t>
            </a:r>
          </a:p>
        </p:txBody>
      </p:sp>
      <p:sp>
        <p:nvSpPr>
          <p:cNvPr id="3" name="Rettangolo 2">
            <a:extLst>
              <a:ext uri="{FF2B5EF4-FFF2-40B4-BE49-F238E27FC236}">
                <a16:creationId xmlns:a16="http://schemas.microsoft.com/office/drawing/2014/main" id="{EEFAB263-AB4C-427B-B8ED-20DB8C9D9147}"/>
              </a:ext>
            </a:extLst>
          </p:cNvPr>
          <p:cNvSpPr>
            <a:spLocks noGrp="1"/>
          </p:cNvSpPr>
          <p:nvPr/>
        </p:nvSpPr>
        <p:spPr>
          <a:xfrm>
            <a:off x="609600" y="1447800"/>
            <a:ext cx="10572750" cy="828675"/>
          </a:xfrm>
          <a:prstGeom prst="rect">
            <a:avLst/>
          </a:prstGeom>
          <a:noFill/>
          <a:ln w="0">
            <a:noFill/>
          </a:ln>
        </p:spPr>
        <p:txBody>
          <a:bodyPr>
            <a:noAutofit/>
          </a:bodyPr>
          <a:lstStyle/>
          <a:p>
            <a:pPr>
              <a:defRPr sz="2625" b="1">
                <a:solidFill>
                  <a:srgbClr val="176899"/>
                </a:solidFill>
                <a:latin typeface="Helvetica Neue"/>
                <a:ea typeface="Helvetica Neue"/>
                <a:cs typeface="Helvetica Neue"/>
              </a:defRPr>
            </a:pPr>
            <a:r>
              <a:rPr sz="2625" b="1">
                <a:solidFill>
                  <a:srgbClr val="176899"/>
                </a:solidFill>
                <a:latin typeface="Helvetica Neue"/>
                <a:ea typeface="Helvetica Neue"/>
                <a:cs typeface="Helvetica Neue"/>
              </a:rPr>
              <a:t>La stessa persona potrebbe essere già iscritta</a:t>
            </a:r>
          </a:p>
        </p:txBody>
      </p:sp>
      <p:sp>
        <p:nvSpPr>
          <p:cNvPr id="4" name="Rettangolo 3">
            <a:extLst>
              <a:ext uri="{FF2B5EF4-FFF2-40B4-BE49-F238E27FC236}">
                <a16:creationId xmlns:a16="http://schemas.microsoft.com/office/drawing/2014/main" id="{0A5F0F7C-2D66-4145-8578-6D93F7E83591}"/>
              </a:ext>
            </a:extLst>
          </p:cNvPr>
          <p:cNvSpPr>
            <a:spLocks noGrp="1"/>
          </p:cNvSpPr>
          <p:nvPr/>
        </p:nvSpPr>
        <p:spPr>
          <a:xfrm>
            <a:off x="609600" y="278130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1580A69D-B8EF-4F06-B284-9427E6CDBE42}"/>
              </a:ext>
            </a:extLst>
          </p:cNvPr>
          <p:cNvSpPr>
            <a:spLocks noGrp="1"/>
          </p:cNvSpPr>
          <p:nvPr/>
        </p:nvSpPr>
        <p:spPr>
          <a:xfrm>
            <a:off x="1333500" y="278130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Confronto dei dati</a:t>
            </a:r>
          </a:p>
        </p:txBody>
      </p:sp>
      <p:sp>
        <p:nvSpPr>
          <p:cNvPr id="6" name="Rettangolo 5">
            <a:extLst>
              <a:ext uri="{FF2B5EF4-FFF2-40B4-BE49-F238E27FC236}">
                <a16:creationId xmlns:a16="http://schemas.microsoft.com/office/drawing/2014/main" id="{4CB12B38-45AA-4831-947D-9F383FD4245F}"/>
              </a:ext>
            </a:extLst>
          </p:cNvPr>
          <p:cNvSpPr>
            <a:spLocks noGrp="1"/>
          </p:cNvSpPr>
          <p:nvPr/>
        </p:nvSpPr>
        <p:spPr>
          <a:xfrm>
            <a:off x="1333500" y="323850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Controlla nome, contatti e gli altri dati disponibili con il manager.</a:t>
            </a:r>
          </a:p>
        </p:txBody>
      </p:sp>
      <p:sp>
        <p:nvSpPr>
          <p:cNvPr id="7" name="Rettangolo 6">
            <a:extLst>
              <a:ext uri="{FF2B5EF4-FFF2-40B4-BE49-F238E27FC236}">
                <a16:creationId xmlns:a16="http://schemas.microsoft.com/office/drawing/2014/main" id="{AB603955-1F77-4D5F-B57D-F7BC70464F5B}"/>
              </a:ext>
            </a:extLst>
          </p:cNvPr>
          <p:cNvSpPr>
            <a:spLocks noGrp="1"/>
          </p:cNvSpPr>
          <p:nvPr/>
        </p:nvSpPr>
        <p:spPr>
          <a:xfrm>
            <a:off x="609600" y="4295775"/>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8" name="Rettangolo 7">
            <a:extLst>
              <a:ext uri="{FF2B5EF4-FFF2-40B4-BE49-F238E27FC236}">
                <a16:creationId xmlns:a16="http://schemas.microsoft.com/office/drawing/2014/main" id="{D7A09E3D-86E0-4489-91E5-2C9C0F8B5BBA}"/>
              </a:ext>
            </a:extLst>
          </p:cNvPr>
          <p:cNvSpPr>
            <a:spLocks noGrp="1"/>
          </p:cNvSpPr>
          <p:nvPr/>
        </p:nvSpPr>
        <p:spPr>
          <a:xfrm>
            <a:off x="1333500" y="4295775"/>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Prosecuzione solo dopo la verifica</a:t>
            </a:r>
          </a:p>
        </p:txBody>
      </p:sp>
      <p:sp>
        <p:nvSpPr>
          <p:cNvPr id="9" name="Rettangolo 8">
            <a:extLst>
              <a:ext uri="{FF2B5EF4-FFF2-40B4-BE49-F238E27FC236}">
                <a16:creationId xmlns:a16="http://schemas.microsoft.com/office/drawing/2014/main" id="{048AE817-9420-4B8F-ABC8-70F92C2AF28E}"/>
              </a:ext>
            </a:extLst>
          </p:cNvPr>
          <p:cNvSpPr>
            <a:spLocks noGrp="1"/>
          </p:cNvSpPr>
          <p:nvPr/>
        </p:nvSpPr>
        <p:spPr>
          <a:xfrm>
            <a:off x="1333500" y="4752975"/>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Se sono persone diverse, spiega il motivo nel campo dedicato prima di riprovare.</a:t>
            </a:r>
          </a:p>
        </p:txBody>
      </p:sp>
      <p:sp>
        <p:nvSpPr>
          <p:cNvPr id="10" name="Rettangolo 9">
            <a:extLst>
              <a:ext uri="{FF2B5EF4-FFF2-40B4-BE49-F238E27FC236}">
                <a16:creationId xmlns:a16="http://schemas.microsoft.com/office/drawing/2014/main" id="{7E23A67A-6DB6-4581-B00F-9A23A8F1EC91}"/>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Una doppia iscrizione da correggere richiede l’intervento di un manager o admin.</a:t>
            </a:r>
          </a:p>
        </p:txBody>
      </p:sp>
    </p:spTree>
    <p:extLst>
      <p:ext uri="{BB962C8B-B14F-4D97-AF65-F5344CB8AC3E}">
        <p14:creationId xmlns:p14="http://schemas.microsoft.com/office/powerpoint/2010/main" val="1702381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3F10586B-7A6A-4974-81EC-982726D28DAB}"/>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Ricerca di un partecipante</a:t>
            </a:r>
          </a:p>
        </p:txBody>
      </p:sp>
      <p:sp>
        <p:nvSpPr>
          <p:cNvPr id="2" name="Rettangolo 1">
            <a:extLst>
              <a:ext uri="{FF2B5EF4-FFF2-40B4-BE49-F238E27FC236}">
                <a16:creationId xmlns:a16="http://schemas.microsoft.com/office/drawing/2014/main" id="{622A07FE-890F-42A3-A147-7222A71945AB}"/>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04</a:t>
            </a:r>
          </a:p>
        </p:txBody>
      </p:sp>
      <p:sp>
        <p:nvSpPr>
          <p:cNvPr id="3" name="Rettangolo 2">
            <a:extLst>
              <a:ext uri="{FF2B5EF4-FFF2-40B4-BE49-F238E27FC236}">
                <a16:creationId xmlns:a16="http://schemas.microsoft.com/office/drawing/2014/main" id="{C3EA6BFA-2B5F-4F23-B06D-B56FA0B23773}"/>
              </a:ext>
            </a:extLst>
          </p:cNvPr>
          <p:cNvSpPr>
            <a:spLocks noGrp="1"/>
          </p:cNvSpPr>
          <p:nvPr/>
        </p:nvSpPr>
        <p:spPr>
          <a:xfrm>
            <a:off x="609600" y="1209675"/>
            <a:ext cx="10953750" cy="600075"/>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Cerca per nome o codice. Puoi aggiungere il contatto, il gruppo o un tag.</a:t>
            </a:r>
          </a:p>
        </p:txBody>
      </p:sp>
      <p:pic>
        <p:nvPicPr>
          <p:cNvPr id="9" name="Immagine 8"/>
          <p:cNvPicPr>
            <a:picLocks noChangeAspect="1"/>
          </p:cNvPicPr>
          <p:nvPr/>
        </p:nvPicPr>
        <p:blipFill>
          <a:blip r:embed="rId3"/>
          <a:stretch/>
        </p:blipFill>
        <p:spPr>
          <a:xfrm>
            <a:off x="1366327" y="1943100"/>
            <a:ext cx="9459346" cy="3838575"/>
          </a:xfrm>
          <a:prstGeom prst="rect">
            <a:avLst/>
          </a:prstGeom>
        </p:spPr>
      </p:pic>
      <p:sp>
        <p:nvSpPr>
          <p:cNvPr id="5" name="Rettangolo 4">
            <a:extLst>
              <a:ext uri="{FF2B5EF4-FFF2-40B4-BE49-F238E27FC236}">
                <a16:creationId xmlns:a16="http://schemas.microsoft.com/office/drawing/2014/main" id="{1008B300-04F8-4B43-AFDB-B453E1DB019C}"/>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Il nome apre la scheda. “Azzera” elimina i filtri applicati. Dati dimostrativi.</a:t>
            </a:r>
          </a:p>
        </p:txBody>
      </p:sp>
    </p:spTree>
    <p:extLst>
      <p:ext uri="{BB962C8B-B14F-4D97-AF65-F5344CB8AC3E}">
        <p14:creationId xmlns:p14="http://schemas.microsoft.com/office/powerpoint/2010/main" val="68536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ttangolo 12">
            <a:extLst>
              <a:ext uri="{FF2B5EF4-FFF2-40B4-BE49-F238E27FC236}">
                <a16:creationId xmlns:a16="http://schemas.microsoft.com/office/drawing/2014/main" id="{253F0817-43BC-4496-8D18-EA53CF0DC64E}"/>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Colonne e ordinamento</a:t>
            </a:r>
          </a:p>
        </p:txBody>
      </p:sp>
      <p:sp>
        <p:nvSpPr>
          <p:cNvPr id="2" name="Rettangolo 1">
            <a:extLst>
              <a:ext uri="{FF2B5EF4-FFF2-40B4-BE49-F238E27FC236}">
                <a16:creationId xmlns:a16="http://schemas.microsoft.com/office/drawing/2014/main" id="{2485A321-A787-4F61-925E-3C81B191ADCE}"/>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05</a:t>
            </a:r>
          </a:p>
        </p:txBody>
      </p:sp>
      <p:pic>
        <p:nvPicPr>
          <p:cNvPr id="15" name="Immagine 14"/>
          <p:cNvPicPr>
            <a:picLocks noChangeAspect="1"/>
          </p:cNvPicPr>
          <p:nvPr/>
        </p:nvPicPr>
        <p:blipFill>
          <a:blip r:embed="rId3"/>
          <a:stretch/>
        </p:blipFill>
        <p:spPr>
          <a:xfrm>
            <a:off x="1109846" y="1428750"/>
            <a:ext cx="2142757" cy="4457700"/>
          </a:xfrm>
          <a:prstGeom prst="rect">
            <a:avLst/>
          </a:prstGeom>
        </p:spPr>
      </p:pic>
      <p:sp>
        <p:nvSpPr>
          <p:cNvPr id="4" name="Rettangolo 3">
            <a:extLst>
              <a:ext uri="{FF2B5EF4-FFF2-40B4-BE49-F238E27FC236}">
                <a16:creationId xmlns:a16="http://schemas.microsoft.com/office/drawing/2014/main" id="{5819FE69-7EEC-4C44-9BE9-319D627DC36B}"/>
              </a:ext>
            </a:extLst>
          </p:cNvPr>
          <p:cNvSpPr>
            <a:spLocks noGrp="1"/>
          </p:cNvSpPr>
          <p:nvPr/>
        </p:nvSpPr>
        <p:spPr>
          <a:xfrm>
            <a:off x="4286250" y="152400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43D11B6A-28A7-47F8-B7ED-D41003767E9E}"/>
              </a:ext>
            </a:extLst>
          </p:cNvPr>
          <p:cNvSpPr>
            <a:spLocks noGrp="1"/>
          </p:cNvSpPr>
          <p:nvPr/>
        </p:nvSpPr>
        <p:spPr>
          <a:xfrm>
            <a:off x="5010150" y="1524000"/>
            <a:ext cx="6134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Colonne visibili</a:t>
            </a:r>
          </a:p>
        </p:txBody>
      </p:sp>
      <p:sp>
        <p:nvSpPr>
          <p:cNvPr id="6" name="Rettangolo 5">
            <a:extLst>
              <a:ext uri="{FF2B5EF4-FFF2-40B4-BE49-F238E27FC236}">
                <a16:creationId xmlns:a16="http://schemas.microsoft.com/office/drawing/2014/main" id="{F1E29A76-E0AD-4E29-83AF-F5E16FE14802}"/>
              </a:ext>
            </a:extLst>
          </p:cNvPr>
          <p:cNvSpPr>
            <a:spLocks noGrp="1"/>
          </p:cNvSpPr>
          <p:nvPr/>
        </p:nvSpPr>
        <p:spPr>
          <a:xfrm>
            <a:off x="5010150" y="1981200"/>
            <a:ext cx="6134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Scegli quali informazioni vedere nella tabella.</a:t>
            </a:r>
          </a:p>
        </p:txBody>
      </p:sp>
      <p:sp>
        <p:nvSpPr>
          <p:cNvPr id="7" name="Rettangolo 6">
            <a:extLst>
              <a:ext uri="{FF2B5EF4-FFF2-40B4-BE49-F238E27FC236}">
                <a16:creationId xmlns:a16="http://schemas.microsoft.com/office/drawing/2014/main" id="{A20C558F-34D4-4EDC-B9AE-B51F58410148}"/>
              </a:ext>
            </a:extLst>
          </p:cNvPr>
          <p:cNvSpPr>
            <a:spLocks noGrp="1"/>
          </p:cNvSpPr>
          <p:nvPr/>
        </p:nvSpPr>
        <p:spPr>
          <a:xfrm>
            <a:off x="4286250" y="2905125"/>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8" name="Rettangolo 7">
            <a:extLst>
              <a:ext uri="{FF2B5EF4-FFF2-40B4-BE49-F238E27FC236}">
                <a16:creationId xmlns:a16="http://schemas.microsoft.com/office/drawing/2014/main" id="{E88C3590-5CAD-4A7D-99AC-7B54805A2A2C}"/>
              </a:ext>
            </a:extLst>
          </p:cNvPr>
          <p:cNvSpPr>
            <a:spLocks noGrp="1"/>
          </p:cNvSpPr>
          <p:nvPr/>
        </p:nvSpPr>
        <p:spPr>
          <a:xfrm>
            <a:off x="5010150" y="2905125"/>
            <a:ext cx="6134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Intestazioni della tabella</a:t>
            </a:r>
          </a:p>
        </p:txBody>
      </p:sp>
      <p:sp>
        <p:nvSpPr>
          <p:cNvPr id="9" name="Rettangolo 8">
            <a:extLst>
              <a:ext uri="{FF2B5EF4-FFF2-40B4-BE49-F238E27FC236}">
                <a16:creationId xmlns:a16="http://schemas.microsoft.com/office/drawing/2014/main" id="{5CFD3A63-EBB0-4F91-92F4-9F082B7EA062}"/>
              </a:ext>
            </a:extLst>
          </p:cNvPr>
          <p:cNvSpPr>
            <a:spLocks noGrp="1"/>
          </p:cNvSpPr>
          <p:nvPr/>
        </p:nvSpPr>
        <p:spPr>
          <a:xfrm>
            <a:off x="5010150" y="3362325"/>
            <a:ext cx="6134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Fai clic sul titolo di una colonna per cambiare l’ordine.</a:t>
            </a:r>
          </a:p>
        </p:txBody>
      </p:sp>
      <p:sp>
        <p:nvSpPr>
          <p:cNvPr id="10" name="Rettangolo 9">
            <a:extLst>
              <a:ext uri="{FF2B5EF4-FFF2-40B4-BE49-F238E27FC236}">
                <a16:creationId xmlns:a16="http://schemas.microsoft.com/office/drawing/2014/main" id="{DE232E80-F4BA-4997-AFDC-C8421905F90D}"/>
              </a:ext>
            </a:extLst>
          </p:cNvPr>
          <p:cNvSpPr>
            <a:spLocks noGrp="1"/>
          </p:cNvSpPr>
          <p:nvPr/>
        </p:nvSpPr>
        <p:spPr>
          <a:xfrm>
            <a:off x="4286250" y="42862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03</a:t>
            </a:r>
          </a:p>
        </p:txBody>
      </p:sp>
      <p:sp>
        <p:nvSpPr>
          <p:cNvPr id="11" name="Rettangolo 10">
            <a:extLst>
              <a:ext uri="{FF2B5EF4-FFF2-40B4-BE49-F238E27FC236}">
                <a16:creationId xmlns:a16="http://schemas.microsoft.com/office/drawing/2014/main" id="{5873928C-BE96-4A2B-B11B-F6407BB70A26}"/>
              </a:ext>
            </a:extLst>
          </p:cNvPr>
          <p:cNvSpPr>
            <a:spLocks noGrp="1"/>
          </p:cNvSpPr>
          <p:nvPr/>
        </p:nvSpPr>
        <p:spPr>
          <a:xfrm>
            <a:off x="5010150" y="4286250"/>
            <a:ext cx="6134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Le tue preferenze</a:t>
            </a:r>
          </a:p>
        </p:txBody>
      </p:sp>
      <p:sp>
        <p:nvSpPr>
          <p:cNvPr id="12" name="Rettangolo 11">
            <a:extLst>
              <a:ext uri="{FF2B5EF4-FFF2-40B4-BE49-F238E27FC236}">
                <a16:creationId xmlns:a16="http://schemas.microsoft.com/office/drawing/2014/main" id="{3E9BE993-641A-4AFE-9B76-0A9D0A721255}"/>
              </a:ext>
            </a:extLst>
          </p:cNvPr>
          <p:cNvSpPr>
            <a:spLocks noGrp="1"/>
          </p:cNvSpPr>
          <p:nvPr/>
        </p:nvSpPr>
        <p:spPr>
          <a:xfrm>
            <a:off x="5010150" y="4743450"/>
            <a:ext cx="6134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Il browser ricorda le scelte. Il nome resta sempre visibile.</a:t>
            </a:r>
          </a:p>
        </p:txBody>
      </p:sp>
    </p:spTree>
    <p:extLst>
      <p:ext uri="{BB962C8B-B14F-4D97-AF65-F5344CB8AC3E}">
        <p14:creationId xmlns:p14="http://schemas.microsoft.com/office/powerpoint/2010/main" val="406848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D94E31F6-578D-4B73-9B10-B4D8578A7FDA}"/>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La scheda partecipante</a:t>
            </a:r>
          </a:p>
        </p:txBody>
      </p:sp>
      <p:sp>
        <p:nvSpPr>
          <p:cNvPr id="2" name="Rettangolo 1">
            <a:extLst>
              <a:ext uri="{FF2B5EF4-FFF2-40B4-BE49-F238E27FC236}">
                <a16:creationId xmlns:a16="http://schemas.microsoft.com/office/drawing/2014/main" id="{5F8E6F7E-E192-45E6-8CFF-2CD8AC695D6B}"/>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06</a:t>
            </a:r>
          </a:p>
        </p:txBody>
      </p:sp>
      <p:pic>
        <p:nvPicPr>
          <p:cNvPr id="10" name="Immagine 9"/>
          <p:cNvPicPr>
            <a:picLocks noChangeAspect="1"/>
          </p:cNvPicPr>
          <p:nvPr/>
        </p:nvPicPr>
        <p:blipFill>
          <a:blip r:embed="rId3"/>
          <a:stretch/>
        </p:blipFill>
        <p:spPr>
          <a:xfrm>
            <a:off x="2133115" y="1457325"/>
            <a:ext cx="3715720" cy="4333875"/>
          </a:xfrm>
          <a:prstGeom prst="rect">
            <a:avLst/>
          </a:prstGeom>
        </p:spPr>
      </p:pic>
      <p:sp>
        <p:nvSpPr>
          <p:cNvPr id="4" name="Rettangolo 3">
            <a:extLst>
              <a:ext uri="{FF2B5EF4-FFF2-40B4-BE49-F238E27FC236}">
                <a16:creationId xmlns:a16="http://schemas.microsoft.com/office/drawing/2014/main" id="{D9C44884-9772-4B4C-9373-1C3A135BBFE1}"/>
              </a:ext>
            </a:extLst>
          </p:cNvPr>
          <p:cNvSpPr>
            <a:spLocks noGrp="1"/>
          </p:cNvSpPr>
          <p:nvPr/>
        </p:nvSpPr>
        <p:spPr>
          <a:xfrm>
            <a:off x="7905750" y="1581150"/>
            <a:ext cx="3476625" cy="457200"/>
          </a:xfrm>
          <a:prstGeom prst="rect">
            <a:avLst/>
          </a:prstGeom>
          <a:noFill/>
          <a:ln w="0">
            <a:noFill/>
          </a:ln>
        </p:spPr>
        <p:txBody>
          <a:bodyPr>
            <a:noAutofit/>
          </a:bodyPr>
          <a:lstStyle/>
          <a:p>
            <a:pPr>
              <a:defRPr sz="2250" b="1">
                <a:solidFill>
                  <a:srgbClr val="176899"/>
                </a:solidFill>
                <a:latin typeface="Helvetica Neue"/>
                <a:ea typeface="Helvetica Neue"/>
                <a:cs typeface="Helvetica Neue"/>
              </a:defRPr>
            </a:pPr>
            <a:r>
              <a:rPr sz="2250" b="1">
                <a:solidFill>
                  <a:srgbClr val="176899"/>
                </a:solidFill>
                <a:latin typeface="Helvetica Neue"/>
                <a:ea typeface="Helvetica Neue"/>
                <a:cs typeface="Helvetica Neue"/>
              </a:rPr>
              <a:t>Dati e contatti</a:t>
            </a:r>
          </a:p>
        </p:txBody>
      </p:sp>
      <p:sp>
        <p:nvSpPr>
          <p:cNvPr id="5" name="Rettangolo 4">
            <a:extLst>
              <a:ext uri="{FF2B5EF4-FFF2-40B4-BE49-F238E27FC236}">
                <a16:creationId xmlns:a16="http://schemas.microsoft.com/office/drawing/2014/main" id="{A9F3020D-A17B-485B-863D-9C215E54BEE1}"/>
              </a:ext>
            </a:extLst>
          </p:cNvPr>
          <p:cNvSpPr>
            <a:spLocks noGrp="1"/>
          </p:cNvSpPr>
          <p:nvPr/>
        </p:nvSpPr>
        <p:spPr>
          <a:xfrm>
            <a:off x="7905750" y="2190750"/>
            <a:ext cx="3429000" cy="1238250"/>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Correggi i campi necessari e usa “Salva” nella sezione modificata.</a:t>
            </a:r>
          </a:p>
        </p:txBody>
      </p:sp>
      <p:sp>
        <p:nvSpPr>
          <p:cNvPr id="6" name="Rettangolo 5">
            <a:extLst>
              <a:ext uri="{FF2B5EF4-FFF2-40B4-BE49-F238E27FC236}">
                <a16:creationId xmlns:a16="http://schemas.microsoft.com/office/drawing/2014/main" id="{001CD5F5-A614-4DCE-9160-088107870DA0}"/>
              </a:ext>
            </a:extLst>
          </p:cNvPr>
          <p:cNvSpPr>
            <a:spLocks noGrp="1"/>
          </p:cNvSpPr>
          <p:nvPr/>
        </p:nvSpPr>
        <p:spPr>
          <a:xfrm>
            <a:off x="7905750" y="3790950"/>
            <a:ext cx="3429000" cy="1104900"/>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I figli associati si consultano nella stessa scheda.</a:t>
            </a:r>
          </a:p>
        </p:txBody>
      </p:sp>
      <p:sp>
        <p:nvSpPr>
          <p:cNvPr id="7" name="Rettangolo 6">
            <a:extLst>
              <a:ext uri="{FF2B5EF4-FFF2-40B4-BE49-F238E27FC236}">
                <a16:creationId xmlns:a16="http://schemas.microsoft.com/office/drawing/2014/main" id="{52B0DD33-8E70-4CEF-8D52-5B0FF4B8BEA5}"/>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Alla chiusura torni all’elenco con i filtri e le colonne già scelti.</a:t>
            </a:r>
          </a:p>
        </p:txBody>
      </p:sp>
    </p:spTree>
    <p:extLst>
      <p:ext uri="{BB962C8B-B14F-4D97-AF65-F5344CB8AC3E}">
        <p14:creationId xmlns:p14="http://schemas.microsoft.com/office/powerpoint/2010/main" val="1880744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E75E518-0868-4196-AF1D-7EF94279944B}"/>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Il QR del partecipante</a:t>
            </a:r>
          </a:p>
        </p:txBody>
      </p:sp>
      <p:sp>
        <p:nvSpPr>
          <p:cNvPr id="2" name="Rettangolo 1">
            <a:extLst>
              <a:ext uri="{FF2B5EF4-FFF2-40B4-BE49-F238E27FC236}">
                <a16:creationId xmlns:a16="http://schemas.microsoft.com/office/drawing/2014/main" id="{DAD43DBA-576D-4C27-AECD-63522CA14D58}"/>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08</a:t>
            </a:r>
          </a:p>
        </p:txBody>
      </p:sp>
      <p:pic>
        <p:nvPicPr>
          <p:cNvPr id="9" name="Immagine 8"/>
          <p:cNvPicPr>
            <a:picLocks noChangeAspect="1"/>
          </p:cNvPicPr>
          <p:nvPr/>
        </p:nvPicPr>
        <p:blipFill>
          <a:blip r:embed="rId3"/>
          <a:stretch/>
        </p:blipFill>
        <p:spPr>
          <a:xfrm>
            <a:off x="2431417" y="1457325"/>
            <a:ext cx="7329165" cy="2371725"/>
          </a:xfrm>
          <a:prstGeom prst="rect">
            <a:avLst/>
          </a:prstGeom>
        </p:spPr>
      </p:pic>
      <p:sp>
        <p:nvSpPr>
          <p:cNvPr id="4" name="Rettangolo 3">
            <a:extLst>
              <a:ext uri="{FF2B5EF4-FFF2-40B4-BE49-F238E27FC236}">
                <a16:creationId xmlns:a16="http://schemas.microsoft.com/office/drawing/2014/main" id="{D9FDE9AE-44F3-48C0-A0D0-F8AD284794F7}"/>
              </a:ext>
            </a:extLst>
          </p:cNvPr>
          <p:cNvSpPr>
            <a:spLocks noGrp="1"/>
          </p:cNvSpPr>
          <p:nvPr/>
        </p:nvSpPr>
        <p:spPr>
          <a:xfrm>
            <a:off x="609600" y="4210050"/>
            <a:ext cx="10668000" cy="419100"/>
          </a:xfrm>
          <a:prstGeom prst="rect">
            <a:avLst/>
          </a:prstGeom>
          <a:noFill/>
          <a:ln w="0">
            <a:noFill/>
          </a:ln>
        </p:spPr>
        <p:txBody>
          <a:bodyPr>
            <a:noAutofit/>
          </a:bodyPr>
          <a:lstStyle/>
          <a:p>
            <a:pPr>
              <a:defRPr sz="2400" b="1">
                <a:solidFill>
                  <a:srgbClr val="176899"/>
                </a:solidFill>
                <a:latin typeface="Helvetica Neue"/>
                <a:ea typeface="Helvetica Neue"/>
                <a:cs typeface="Helvetica Neue"/>
              </a:defRPr>
            </a:pPr>
            <a:r>
              <a:rPr sz="2400" b="1">
                <a:solidFill>
                  <a:srgbClr val="176899"/>
                </a:solidFill>
                <a:latin typeface="Helvetica Neue"/>
                <a:ea typeface="Helvetica Neue"/>
                <a:cs typeface="Helvetica Neue"/>
              </a:rPr>
              <a:t>“Scarica immagine” salva il QR nominativo</a:t>
            </a:r>
          </a:p>
        </p:txBody>
      </p:sp>
      <p:sp>
        <p:nvSpPr>
          <p:cNvPr id="5" name="Rettangolo 4">
            <a:extLst>
              <a:ext uri="{FF2B5EF4-FFF2-40B4-BE49-F238E27FC236}">
                <a16:creationId xmlns:a16="http://schemas.microsoft.com/office/drawing/2014/main" id="{B9A53D53-BE4B-4F01-89D1-277A3D5E6D40}"/>
              </a:ext>
            </a:extLst>
          </p:cNvPr>
          <p:cNvSpPr>
            <a:spLocks noGrp="1"/>
          </p:cNvSpPr>
          <p:nvPr/>
        </p:nvSpPr>
        <p:spPr>
          <a:xfrm>
            <a:off x="609600" y="4829175"/>
            <a:ext cx="10572750" cy="828675"/>
          </a:xfrm>
          <a:prstGeom prst="rect">
            <a:avLst/>
          </a:prstGeom>
          <a:noFill/>
          <a:ln w="0">
            <a:noFill/>
          </a:ln>
        </p:spPr>
        <p:txBody>
          <a:bodyPr>
            <a:noAutofit/>
          </a:bodyPr>
          <a:lstStyle/>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Nel file trovi QR, nome e cognome, codice partecipante.</a:t>
            </a:r>
          </a:p>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Il QR vale anche per i figli associati a quella iscrizione.</a:t>
            </a:r>
          </a:p>
        </p:txBody>
      </p:sp>
      <p:sp>
        <p:nvSpPr>
          <p:cNvPr id="6" name="Rettangolo 5">
            <a:extLst>
              <a:ext uri="{FF2B5EF4-FFF2-40B4-BE49-F238E27FC236}">
                <a16:creationId xmlns:a16="http://schemas.microsoft.com/office/drawing/2014/main" id="{35B30558-DECE-4FF5-88B1-3988D60F7A5E}"/>
              </a:ext>
            </a:extLst>
          </p:cNvPr>
          <p:cNvSpPr>
            <a:spLocks noGrp="1"/>
          </p:cNvSpPr>
          <p:nvPr/>
        </p:nvSpPr>
        <p:spPr>
          <a:xfrm>
            <a:off x="609600" y="6000750"/>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Se il QR manca, comunica il codice partecipante all’accoglienza. QR dimostrativo.</a:t>
            </a:r>
          </a:p>
        </p:txBody>
      </p:sp>
    </p:spTree>
    <p:extLst>
      <p:ext uri="{BB962C8B-B14F-4D97-AF65-F5344CB8AC3E}">
        <p14:creationId xmlns:p14="http://schemas.microsoft.com/office/powerpoint/2010/main" val="2039881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ttangolo 9">
            <a:extLst>
              <a:ext uri="{FF2B5EF4-FFF2-40B4-BE49-F238E27FC236}">
                <a16:creationId xmlns:a16="http://schemas.microsoft.com/office/drawing/2014/main" id="{85F6DB58-7C21-4FBA-953E-3CCD463A0F33}"/>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Note, tag e servizio</a:t>
            </a:r>
          </a:p>
        </p:txBody>
      </p:sp>
      <p:sp>
        <p:nvSpPr>
          <p:cNvPr id="2" name="Rettangolo 1">
            <a:extLst>
              <a:ext uri="{FF2B5EF4-FFF2-40B4-BE49-F238E27FC236}">
                <a16:creationId xmlns:a16="http://schemas.microsoft.com/office/drawing/2014/main" id="{2C9CD7B0-8D59-4A39-9ADC-CBBE1110C04A}"/>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07</a:t>
            </a:r>
          </a:p>
        </p:txBody>
      </p:sp>
      <p:sp>
        <p:nvSpPr>
          <p:cNvPr id="3" name="Rettangolo 2">
            <a:extLst>
              <a:ext uri="{FF2B5EF4-FFF2-40B4-BE49-F238E27FC236}">
                <a16:creationId xmlns:a16="http://schemas.microsoft.com/office/drawing/2014/main" id="{8DCC3ED3-AA29-4677-91A9-25289DF04103}"/>
              </a:ext>
            </a:extLst>
          </p:cNvPr>
          <p:cNvSpPr>
            <a:spLocks noGrp="1"/>
          </p:cNvSpPr>
          <p:nvPr/>
        </p:nvSpPr>
        <p:spPr>
          <a:xfrm>
            <a:off x="609600" y="1390650"/>
            <a:ext cx="5048250" cy="409575"/>
          </a:xfrm>
          <a:prstGeom prst="rect">
            <a:avLst/>
          </a:prstGeom>
          <a:noFill/>
          <a:ln w="0">
            <a:noFill/>
          </a:ln>
        </p:spPr>
        <p:txBody>
          <a:bodyPr>
            <a:noAutofit/>
          </a:bodyPr>
          <a:lstStyle/>
          <a:p>
            <a:pPr>
              <a:defRPr sz="2250" b="1">
                <a:solidFill>
                  <a:srgbClr val="176899"/>
                </a:solidFill>
                <a:latin typeface="Helvetica Neue"/>
                <a:ea typeface="Helvetica Neue"/>
                <a:cs typeface="Helvetica Neue"/>
              </a:defRPr>
            </a:pPr>
            <a:r>
              <a:rPr sz="2250" b="1">
                <a:solidFill>
                  <a:srgbClr val="176899"/>
                </a:solidFill>
                <a:latin typeface="Helvetica Neue"/>
                <a:ea typeface="Helvetica Neue"/>
                <a:cs typeface="Helvetica Neue"/>
              </a:rPr>
              <a:t>Note interne</a:t>
            </a:r>
          </a:p>
        </p:txBody>
      </p:sp>
      <p:pic>
        <p:nvPicPr>
          <p:cNvPr id="13" name="Immagine 12"/>
          <p:cNvPicPr>
            <a:picLocks noChangeAspect="1"/>
          </p:cNvPicPr>
          <p:nvPr/>
        </p:nvPicPr>
        <p:blipFill>
          <a:blip r:embed="rId3"/>
          <a:stretch/>
        </p:blipFill>
        <p:spPr>
          <a:xfrm>
            <a:off x="2065460" y="1914525"/>
            <a:ext cx="2307981" cy="2000250"/>
          </a:xfrm>
          <a:prstGeom prst="rect">
            <a:avLst/>
          </a:prstGeom>
        </p:spPr>
      </p:pic>
      <p:sp>
        <p:nvSpPr>
          <p:cNvPr id="5" name="Rettangolo 4">
            <a:extLst>
              <a:ext uri="{FF2B5EF4-FFF2-40B4-BE49-F238E27FC236}">
                <a16:creationId xmlns:a16="http://schemas.microsoft.com/office/drawing/2014/main" id="{3CAA9823-0EF2-4025-87FA-603A97EEAA46}"/>
              </a:ext>
            </a:extLst>
          </p:cNvPr>
          <p:cNvSpPr>
            <a:spLocks noGrp="1"/>
          </p:cNvSpPr>
          <p:nvPr/>
        </p:nvSpPr>
        <p:spPr>
          <a:xfrm>
            <a:off x="609600" y="4219575"/>
            <a:ext cx="5095875" cy="933450"/>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Scrivi un promemoria utile e premi “Salva nota”.</a:t>
            </a:r>
          </a:p>
        </p:txBody>
      </p:sp>
      <p:sp>
        <p:nvSpPr>
          <p:cNvPr id="6" name="Rettangolo 5">
            <a:extLst>
              <a:ext uri="{FF2B5EF4-FFF2-40B4-BE49-F238E27FC236}">
                <a16:creationId xmlns:a16="http://schemas.microsoft.com/office/drawing/2014/main" id="{4BDD60EC-D269-4D66-BCAE-6A3119F12626}"/>
              </a:ext>
            </a:extLst>
          </p:cNvPr>
          <p:cNvSpPr>
            <a:spLocks noGrp="1"/>
          </p:cNvSpPr>
          <p:nvPr/>
        </p:nvSpPr>
        <p:spPr>
          <a:xfrm>
            <a:off x="6515100" y="1390650"/>
            <a:ext cx="5048250" cy="409575"/>
          </a:xfrm>
          <a:prstGeom prst="rect">
            <a:avLst/>
          </a:prstGeom>
          <a:noFill/>
          <a:ln w="0">
            <a:noFill/>
          </a:ln>
        </p:spPr>
        <p:txBody>
          <a:bodyPr>
            <a:noAutofit/>
          </a:bodyPr>
          <a:lstStyle/>
          <a:p>
            <a:pPr>
              <a:defRPr sz="2250" b="1">
                <a:solidFill>
                  <a:srgbClr val="176899"/>
                </a:solidFill>
                <a:latin typeface="Helvetica Neue"/>
                <a:ea typeface="Helvetica Neue"/>
                <a:cs typeface="Helvetica Neue"/>
              </a:defRPr>
            </a:pPr>
            <a:r>
              <a:rPr sz="2250" b="1">
                <a:solidFill>
                  <a:srgbClr val="176899"/>
                </a:solidFill>
                <a:latin typeface="Helvetica Neue"/>
                <a:ea typeface="Helvetica Neue"/>
                <a:cs typeface="Helvetica Neue"/>
              </a:rPr>
              <a:t>Tag operativi</a:t>
            </a:r>
          </a:p>
        </p:txBody>
      </p:sp>
      <p:pic>
        <p:nvPicPr>
          <p:cNvPr id="16" name="Immagine 15"/>
          <p:cNvPicPr>
            <a:picLocks noChangeAspect="1"/>
          </p:cNvPicPr>
          <p:nvPr/>
        </p:nvPicPr>
        <p:blipFill>
          <a:blip r:embed="rId4"/>
          <a:stretch/>
        </p:blipFill>
        <p:spPr>
          <a:xfrm>
            <a:off x="8119736" y="1933575"/>
            <a:ext cx="1838977" cy="1657350"/>
          </a:xfrm>
          <a:prstGeom prst="rect">
            <a:avLst/>
          </a:prstGeom>
        </p:spPr>
      </p:pic>
      <p:sp>
        <p:nvSpPr>
          <p:cNvPr id="8" name="Rettangolo 7">
            <a:extLst>
              <a:ext uri="{FF2B5EF4-FFF2-40B4-BE49-F238E27FC236}">
                <a16:creationId xmlns:a16="http://schemas.microsoft.com/office/drawing/2014/main" id="{59AC44DB-6EEC-4E18-B73E-70A5FB198ECD}"/>
              </a:ext>
            </a:extLst>
          </p:cNvPr>
          <p:cNvSpPr>
            <a:spLocks noGrp="1"/>
          </p:cNvSpPr>
          <p:nvPr/>
        </p:nvSpPr>
        <p:spPr>
          <a:xfrm>
            <a:off x="6515100" y="4219575"/>
            <a:ext cx="5048250" cy="933450"/>
          </a:xfrm>
          <a:prstGeom prst="rect">
            <a:avLst/>
          </a:prstGeom>
          <a:noFill/>
          <a:ln w="0">
            <a:noFill/>
          </a:ln>
        </p:spPr>
        <p:txBody>
          <a:bodyPr>
            <a:noAutofit/>
          </a:bodyPr>
          <a:lstStyle/>
          <a:p>
            <a:pPr>
              <a:defRPr sz="2025" b="0">
                <a:solidFill>
                  <a:srgbClr val="102F4E"/>
                </a:solidFill>
                <a:latin typeface="Helvetica Neue"/>
                <a:ea typeface="Helvetica Neue"/>
                <a:cs typeface="Helvetica Neue"/>
              </a:defRPr>
            </a:pPr>
            <a:r>
              <a:rPr sz="2025" b="0">
                <a:solidFill>
                  <a:srgbClr val="102F4E"/>
                </a:solidFill>
                <a:latin typeface="Helvetica Neue"/>
                <a:ea typeface="Helvetica Neue"/>
                <a:cs typeface="Helvetica Neue"/>
              </a:rPr>
              <a:t>Seleziona i tag disponibili e premi “Salva”.</a:t>
            </a:r>
          </a:p>
        </p:txBody>
      </p:sp>
      <p:sp>
        <p:nvSpPr>
          <p:cNvPr id="9" name="Rettangolo 8">
            <a:extLst>
              <a:ext uri="{FF2B5EF4-FFF2-40B4-BE49-F238E27FC236}">
                <a16:creationId xmlns:a16="http://schemas.microsoft.com/office/drawing/2014/main" id="{924FF8B4-4287-4C72-9CDA-D2016B44C300}"/>
              </a:ext>
            </a:extLst>
          </p:cNvPr>
          <p:cNvSpPr>
            <a:spLocks noGrp="1"/>
          </p:cNvSpPr>
          <p:nvPr/>
        </p:nvSpPr>
        <p:spPr>
          <a:xfrm>
            <a:off x="609600" y="5467350"/>
            <a:ext cx="10858500" cy="714375"/>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Servizio e stato si possono consultare. Le modifiche spettano a manager o admin.</a:t>
            </a:r>
          </a:p>
        </p:txBody>
      </p:sp>
    </p:spTree>
    <p:extLst>
      <p:ext uri="{BB962C8B-B14F-4D97-AF65-F5344CB8AC3E}">
        <p14:creationId xmlns:p14="http://schemas.microsoft.com/office/powerpoint/2010/main" val="5153786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50374002-B989-44BE-9D9E-DE223B6A8195}"/>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Una persona nel gruppo sbagliato</a:t>
            </a:r>
          </a:p>
        </p:txBody>
      </p:sp>
      <p:sp>
        <p:nvSpPr>
          <p:cNvPr id="2" name="Rettangolo 1">
            <a:extLst>
              <a:ext uri="{FF2B5EF4-FFF2-40B4-BE49-F238E27FC236}">
                <a16:creationId xmlns:a16="http://schemas.microsoft.com/office/drawing/2014/main" id="{6DB199A5-AC63-44EA-80CD-57AFA5580B06}"/>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09</a:t>
            </a:r>
          </a:p>
        </p:txBody>
      </p:sp>
      <p:pic>
        <p:nvPicPr>
          <p:cNvPr id="13" name="Immagine 12"/>
          <p:cNvPicPr>
            <a:picLocks noChangeAspect="1"/>
          </p:cNvPicPr>
          <p:nvPr/>
        </p:nvPicPr>
        <p:blipFill>
          <a:blip r:embed="rId3"/>
          <a:stretch/>
        </p:blipFill>
        <p:spPr>
          <a:xfrm>
            <a:off x="2953151" y="1447800"/>
            <a:ext cx="6285697" cy="1819275"/>
          </a:xfrm>
          <a:prstGeom prst="rect">
            <a:avLst/>
          </a:prstGeom>
        </p:spPr>
      </p:pic>
      <p:sp>
        <p:nvSpPr>
          <p:cNvPr id="4" name="Rettangolo 3">
            <a:extLst>
              <a:ext uri="{FF2B5EF4-FFF2-40B4-BE49-F238E27FC236}">
                <a16:creationId xmlns:a16="http://schemas.microsoft.com/office/drawing/2014/main" id="{0006D110-5809-4AEE-9DD4-58AF2B1F92E8}"/>
              </a:ext>
            </a:extLst>
          </p:cNvPr>
          <p:cNvSpPr>
            <a:spLocks noGrp="1"/>
          </p:cNvSpPr>
          <p:nvPr/>
        </p:nvSpPr>
        <p:spPr>
          <a:xfrm>
            <a:off x="609600" y="35623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BC68984E-4336-4EE7-8641-5157C0092AF7}"/>
              </a:ext>
            </a:extLst>
          </p:cNvPr>
          <p:cNvSpPr>
            <a:spLocks noGrp="1"/>
          </p:cNvSpPr>
          <p:nvPr/>
        </p:nvSpPr>
        <p:spPr>
          <a:xfrm>
            <a:off x="1333500" y="3562350"/>
            <a:ext cx="97536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Verifica la persona</a:t>
            </a:r>
          </a:p>
        </p:txBody>
      </p:sp>
      <p:sp>
        <p:nvSpPr>
          <p:cNvPr id="6" name="Rettangolo 5">
            <a:extLst>
              <a:ext uri="{FF2B5EF4-FFF2-40B4-BE49-F238E27FC236}">
                <a16:creationId xmlns:a16="http://schemas.microsoft.com/office/drawing/2014/main" id="{4066EF6A-24EA-4E86-A953-F9B31A302BB4}"/>
              </a:ext>
            </a:extLst>
          </p:cNvPr>
          <p:cNvSpPr>
            <a:spLocks noGrp="1"/>
          </p:cNvSpPr>
          <p:nvPr/>
        </p:nvSpPr>
        <p:spPr>
          <a:xfrm>
            <a:off x="1333500" y="4019550"/>
            <a:ext cx="97536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Apri la sua scheda e controlla nome e codice.</a:t>
            </a:r>
          </a:p>
        </p:txBody>
      </p:sp>
      <p:sp>
        <p:nvSpPr>
          <p:cNvPr id="7" name="Rettangolo 6">
            <a:extLst>
              <a:ext uri="{FF2B5EF4-FFF2-40B4-BE49-F238E27FC236}">
                <a16:creationId xmlns:a16="http://schemas.microsoft.com/office/drawing/2014/main" id="{9B083FB3-9A8E-4B77-AA2C-EAF63DE41107}"/>
              </a:ext>
            </a:extLst>
          </p:cNvPr>
          <p:cNvSpPr>
            <a:spLocks noGrp="1"/>
          </p:cNvSpPr>
          <p:nvPr/>
        </p:nvSpPr>
        <p:spPr>
          <a:xfrm>
            <a:off x="609600" y="485775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8" name="Rettangolo 7">
            <a:extLst>
              <a:ext uri="{FF2B5EF4-FFF2-40B4-BE49-F238E27FC236}">
                <a16:creationId xmlns:a16="http://schemas.microsoft.com/office/drawing/2014/main" id="{D888DADB-90B9-49A1-BEF4-4EAE2E8DBD8D}"/>
              </a:ext>
            </a:extLst>
          </p:cNvPr>
          <p:cNvSpPr>
            <a:spLocks noGrp="1"/>
          </p:cNvSpPr>
          <p:nvPr/>
        </p:nvSpPr>
        <p:spPr>
          <a:xfrm>
            <a:off x="1333500" y="4857750"/>
            <a:ext cx="97536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“Non appartiene al mio gruppo”</a:t>
            </a:r>
          </a:p>
        </p:txBody>
      </p:sp>
      <p:sp>
        <p:nvSpPr>
          <p:cNvPr id="9" name="Rettangolo 8">
            <a:extLst>
              <a:ext uri="{FF2B5EF4-FFF2-40B4-BE49-F238E27FC236}">
                <a16:creationId xmlns:a16="http://schemas.microsoft.com/office/drawing/2014/main" id="{A6FB112E-8041-488F-B5DC-870961E2D892}"/>
              </a:ext>
            </a:extLst>
          </p:cNvPr>
          <p:cNvSpPr>
            <a:spLocks noGrp="1"/>
          </p:cNvSpPr>
          <p:nvPr/>
        </p:nvSpPr>
        <p:spPr>
          <a:xfrm>
            <a:off x="1333500" y="5314950"/>
            <a:ext cx="97536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Conferma lo spostamento in “Senza gruppo”. L’iscrizione resta conservata.</a:t>
            </a:r>
          </a:p>
        </p:txBody>
      </p:sp>
      <p:sp>
        <p:nvSpPr>
          <p:cNvPr id="10" name="Rettangolo 9">
            <a:extLst>
              <a:ext uri="{FF2B5EF4-FFF2-40B4-BE49-F238E27FC236}">
                <a16:creationId xmlns:a16="http://schemas.microsoft.com/office/drawing/2014/main" id="{87706746-9CE5-419F-B2B7-7B578978347E}"/>
              </a:ext>
            </a:extLst>
          </p:cNvPr>
          <p:cNvSpPr>
            <a:spLocks noGrp="1"/>
          </p:cNvSpPr>
          <p:nvPr/>
        </p:nvSpPr>
        <p:spPr>
          <a:xfrm>
            <a:off x="609600" y="6238875"/>
            <a:ext cx="10668000" cy="381000"/>
          </a:xfrm>
          <a:prstGeom prst="rect">
            <a:avLst/>
          </a:prstGeom>
          <a:noFill/>
          <a:ln w="0">
            <a:noFill/>
          </a:ln>
        </p:spPr>
        <p:txBody>
          <a:bodyPr>
            <a:noAutofit/>
          </a:bodyPr>
          <a:lstStyle/>
          <a:p>
            <a:pPr>
              <a:defRPr sz="1350" b="0">
                <a:solidFill>
                  <a:srgbClr val="526979"/>
                </a:solidFill>
                <a:latin typeface="Helvetica Neue"/>
                <a:ea typeface="Helvetica Neue"/>
                <a:cs typeface="Helvetica Neue"/>
              </a:defRPr>
            </a:pPr>
            <a:r>
              <a:rPr sz="1350" b="0">
                <a:solidFill>
                  <a:srgbClr val="526979"/>
                </a:solidFill>
                <a:latin typeface="Helvetica Neue"/>
                <a:ea typeface="Helvetica Neue"/>
                <a:cs typeface="Helvetica Neue"/>
              </a:rPr>
              <a:t>Un manager o admin potrà riassegnarla. Nessun messaggio automatico al partecipante.</a:t>
            </a:r>
          </a:p>
        </p:txBody>
      </p:sp>
    </p:spTree>
    <p:extLst>
      <p:ext uri="{BB962C8B-B14F-4D97-AF65-F5344CB8AC3E}">
        <p14:creationId xmlns:p14="http://schemas.microsoft.com/office/powerpoint/2010/main" val="16822720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ttangolo 10">
            <a:extLst>
              <a:ext uri="{FF2B5EF4-FFF2-40B4-BE49-F238E27FC236}">
                <a16:creationId xmlns:a16="http://schemas.microsoft.com/office/drawing/2014/main" id="{6CB198B6-9727-4A90-9EEF-E774FA2196D5}"/>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Esportazione in Excel</a:t>
            </a:r>
          </a:p>
        </p:txBody>
      </p:sp>
      <p:sp>
        <p:nvSpPr>
          <p:cNvPr id="2" name="Rettangolo 1">
            <a:extLst>
              <a:ext uri="{FF2B5EF4-FFF2-40B4-BE49-F238E27FC236}">
                <a16:creationId xmlns:a16="http://schemas.microsoft.com/office/drawing/2014/main" id="{CB5C13CF-0C28-4E44-A688-F9B5EEE944A8}"/>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14</a:t>
            </a:r>
          </a:p>
        </p:txBody>
      </p:sp>
      <p:pic>
        <p:nvPicPr>
          <p:cNvPr id="13" name="Immagine 12"/>
          <p:cNvPicPr>
            <a:picLocks noChangeAspect="1"/>
          </p:cNvPicPr>
          <p:nvPr/>
        </p:nvPicPr>
        <p:blipFill>
          <a:blip r:embed="rId3"/>
          <a:stretch/>
        </p:blipFill>
        <p:spPr>
          <a:xfrm>
            <a:off x="609600" y="1679431"/>
            <a:ext cx="10972800" cy="498764"/>
          </a:xfrm>
          <a:prstGeom prst="rect">
            <a:avLst/>
          </a:prstGeom>
        </p:spPr>
      </p:pic>
      <p:sp>
        <p:nvSpPr>
          <p:cNvPr id="4" name="Rettangolo 3">
            <a:extLst>
              <a:ext uri="{FF2B5EF4-FFF2-40B4-BE49-F238E27FC236}">
                <a16:creationId xmlns:a16="http://schemas.microsoft.com/office/drawing/2014/main" id="{BA6A484E-4006-4BD1-99A7-0905F8518F98}"/>
              </a:ext>
            </a:extLst>
          </p:cNvPr>
          <p:cNvSpPr>
            <a:spLocks noGrp="1"/>
          </p:cNvSpPr>
          <p:nvPr/>
        </p:nvSpPr>
        <p:spPr>
          <a:xfrm>
            <a:off x="609600" y="2781300"/>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01</a:t>
            </a:r>
          </a:p>
        </p:txBody>
      </p:sp>
      <p:sp>
        <p:nvSpPr>
          <p:cNvPr id="5" name="Rettangolo 4">
            <a:extLst>
              <a:ext uri="{FF2B5EF4-FFF2-40B4-BE49-F238E27FC236}">
                <a16:creationId xmlns:a16="http://schemas.microsoft.com/office/drawing/2014/main" id="{D528177C-F72B-463D-9290-27F299E76FE8}"/>
              </a:ext>
            </a:extLst>
          </p:cNvPr>
          <p:cNvSpPr>
            <a:spLocks noGrp="1"/>
          </p:cNvSpPr>
          <p:nvPr/>
        </p:nvSpPr>
        <p:spPr>
          <a:xfrm>
            <a:off x="1333500" y="2781300"/>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Filtri e colonne</a:t>
            </a:r>
          </a:p>
        </p:txBody>
      </p:sp>
      <p:sp>
        <p:nvSpPr>
          <p:cNvPr id="6" name="Rettangolo 5">
            <a:extLst>
              <a:ext uri="{FF2B5EF4-FFF2-40B4-BE49-F238E27FC236}">
                <a16:creationId xmlns:a16="http://schemas.microsoft.com/office/drawing/2014/main" id="{95DD9430-366B-4278-BD98-EE369FD1FB7F}"/>
              </a:ext>
            </a:extLst>
          </p:cNvPr>
          <p:cNvSpPr>
            <a:spLocks noGrp="1"/>
          </p:cNvSpPr>
          <p:nvPr/>
        </p:nvSpPr>
        <p:spPr>
          <a:xfrm>
            <a:off x="1333500" y="3238500"/>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Prepara nell’elenco esattamente i dati che ti servono.</a:t>
            </a:r>
          </a:p>
        </p:txBody>
      </p:sp>
      <p:sp>
        <p:nvSpPr>
          <p:cNvPr id="7" name="Rettangolo 6">
            <a:extLst>
              <a:ext uri="{FF2B5EF4-FFF2-40B4-BE49-F238E27FC236}">
                <a16:creationId xmlns:a16="http://schemas.microsoft.com/office/drawing/2014/main" id="{958649EB-051D-47F0-8866-84FBA693F313}"/>
              </a:ext>
            </a:extLst>
          </p:cNvPr>
          <p:cNvSpPr>
            <a:spLocks noGrp="1"/>
          </p:cNvSpPr>
          <p:nvPr/>
        </p:nvSpPr>
        <p:spPr>
          <a:xfrm>
            <a:off x="609600" y="4124325"/>
            <a:ext cx="552450" cy="400050"/>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02</a:t>
            </a:r>
          </a:p>
        </p:txBody>
      </p:sp>
      <p:sp>
        <p:nvSpPr>
          <p:cNvPr id="8" name="Rettangolo 7">
            <a:extLst>
              <a:ext uri="{FF2B5EF4-FFF2-40B4-BE49-F238E27FC236}">
                <a16:creationId xmlns:a16="http://schemas.microsoft.com/office/drawing/2014/main" id="{A788C78B-B20A-49FE-8E43-1BED5AAEA341}"/>
              </a:ext>
            </a:extLst>
          </p:cNvPr>
          <p:cNvSpPr>
            <a:spLocks noGrp="1"/>
          </p:cNvSpPr>
          <p:nvPr/>
        </p:nvSpPr>
        <p:spPr>
          <a:xfrm>
            <a:off x="1333500" y="4124325"/>
            <a:ext cx="9563100" cy="400050"/>
          </a:xfrm>
          <a:prstGeom prst="rect">
            <a:avLst/>
          </a:prstGeom>
          <a:noFill/>
          <a:ln w="0">
            <a:noFill/>
          </a:ln>
        </p:spPr>
        <p:txBody>
          <a:bodyPr>
            <a:noAutofit/>
          </a:bodyPr>
          <a:lstStyle/>
          <a:p>
            <a:pPr>
              <a:defRPr sz="2100" b="1">
                <a:solidFill>
                  <a:srgbClr val="102F4E"/>
                </a:solidFill>
                <a:latin typeface="Helvetica Neue"/>
                <a:ea typeface="Helvetica Neue"/>
                <a:cs typeface="Helvetica Neue"/>
              </a:defRPr>
            </a:pPr>
            <a:r>
              <a:rPr sz="2100" b="1">
                <a:solidFill>
                  <a:srgbClr val="102F4E"/>
                </a:solidFill>
                <a:latin typeface="Helvetica Neue"/>
                <a:ea typeface="Helvetica Neue"/>
                <a:cs typeface="Helvetica Neue"/>
              </a:rPr>
              <a:t>Esporta iscritti</a:t>
            </a:r>
          </a:p>
        </p:txBody>
      </p:sp>
      <p:sp>
        <p:nvSpPr>
          <p:cNvPr id="9" name="Rettangolo 8">
            <a:extLst>
              <a:ext uri="{FF2B5EF4-FFF2-40B4-BE49-F238E27FC236}">
                <a16:creationId xmlns:a16="http://schemas.microsoft.com/office/drawing/2014/main" id="{82790851-D16F-48D9-9B12-D7551E1DC30A}"/>
              </a:ext>
            </a:extLst>
          </p:cNvPr>
          <p:cNvSpPr>
            <a:spLocks noGrp="1"/>
          </p:cNvSpPr>
          <p:nvPr/>
        </p:nvSpPr>
        <p:spPr>
          <a:xfrm>
            <a:off x="1333500" y="4581525"/>
            <a:ext cx="9563100" cy="714375"/>
          </a:xfrm>
          <a:prstGeom prst="rect">
            <a:avLst/>
          </a:prstGeom>
          <a:noFill/>
          <a:ln w="0">
            <a:noFill/>
          </a:ln>
        </p:spPr>
        <p:txBody>
          <a:bodyPr>
            <a:noAutofit/>
          </a:bodyPr>
          <a:lstStyle/>
          <a:p>
            <a:pPr>
              <a:defRPr sz="1875" b="0">
                <a:solidFill>
                  <a:srgbClr val="526979"/>
                </a:solidFill>
                <a:latin typeface="Helvetica Neue"/>
                <a:ea typeface="Helvetica Neue"/>
                <a:cs typeface="Helvetica Neue"/>
              </a:defRPr>
            </a:pPr>
            <a:r>
              <a:rPr sz="1875" b="0">
                <a:solidFill>
                  <a:srgbClr val="526979"/>
                </a:solidFill>
                <a:latin typeface="Helvetica Neue"/>
                <a:ea typeface="Helvetica Neue"/>
                <a:cs typeface="Helvetica Neue"/>
              </a:rPr>
              <a:t>Scarica il file Excel: contiene tutte le persone che corrispondono ai filtri.</a:t>
            </a:r>
          </a:p>
        </p:txBody>
      </p:sp>
      <p:sp>
        <p:nvSpPr>
          <p:cNvPr id="10" name="Rettangolo 9">
            <a:extLst>
              <a:ext uri="{FF2B5EF4-FFF2-40B4-BE49-F238E27FC236}">
                <a16:creationId xmlns:a16="http://schemas.microsoft.com/office/drawing/2014/main" id="{D446D1D8-2B3F-47D2-A6A3-6CF8179D0CCB}"/>
              </a:ext>
            </a:extLst>
          </p:cNvPr>
          <p:cNvSpPr>
            <a:spLocks noGrp="1"/>
          </p:cNvSpPr>
          <p:nvPr/>
        </p:nvSpPr>
        <p:spPr>
          <a:xfrm>
            <a:off x="609600" y="5534025"/>
            <a:ext cx="10572750" cy="523875"/>
          </a:xfrm>
          <a:prstGeom prst="rect">
            <a:avLst/>
          </a:prstGeom>
          <a:noFill/>
          <a:ln w="0">
            <a:noFill/>
          </a:ln>
        </p:spPr>
        <p:txBody>
          <a:bodyPr>
            <a:noAutofit/>
          </a:bodyPr>
          <a:lstStyle/>
          <a:p>
            <a:pPr>
              <a:defRPr sz="2175" b="1">
                <a:solidFill>
                  <a:srgbClr val="176899"/>
                </a:solidFill>
                <a:latin typeface="Helvetica Neue"/>
                <a:ea typeface="Helvetica Neue"/>
                <a:cs typeface="Helvetica Neue"/>
              </a:defRPr>
            </a:pPr>
            <a:r>
              <a:rPr sz="2175" b="1">
                <a:solidFill>
                  <a:srgbClr val="176899"/>
                </a:solidFill>
                <a:latin typeface="Helvetica Neue"/>
                <a:ea typeface="Helvetica Neue"/>
                <a:cs typeface="Helvetica Neue"/>
              </a:rPr>
              <a:t>Il file conserva colonne e ordinamento della tabella.</a:t>
            </a:r>
          </a:p>
        </p:txBody>
      </p:sp>
    </p:spTree>
    <p:extLst>
      <p:ext uri="{BB962C8B-B14F-4D97-AF65-F5344CB8AC3E}">
        <p14:creationId xmlns:p14="http://schemas.microsoft.com/office/powerpoint/2010/main" val="1416028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ttangolo 8">
            <a:extLst>
              <a:ext uri="{FF2B5EF4-FFF2-40B4-BE49-F238E27FC236}">
                <a16:creationId xmlns:a16="http://schemas.microsoft.com/office/drawing/2014/main" id="{3BF30808-F2C4-464E-81DD-189DA85C1FC6}"/>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102F4E"/>
                </a:solidFill>
                <a:latin typeface="Helvetica Neue"/>
                <a:ea typeface="Helvetica Neue"/>
                <a:cs typeface="Helvetica Neue"/>
              </a:defRPr>
            </a:pPr>
            <a:r>
              <a:rPr sz="3450" b="1">
                <a:solidFill>
                  <a:srgbClr val="102F4E"/>
                </a:solidFill>
                <a:latin typeface="Helvetica Neue"/>
                <a:ea typeface="Helvetica Neue"/>
                <a:cs typeface="Helvetica Neue"/>
              </a:rPr>
              <a:t>Quando serve il manager</a:t>
            </a:r>
          </a:p>
        </p:txBody>
      </p:sp>
      <p:sp>
        <p:nvSpPr>
          <p:cNvPr id="2" name="Rettangolo 1">
            <a:extLst>
              <a:ext uri="{FF2B5EF4-FFF2-40B4-BE49-F238E27FC236}">
                <a16:creationId xmlns:a16="http://schemas.microsoft.com/office/drawing/2014/main" id="{58BAE60B-8A45-4B30-B6A9-50E1B5AE4CC5}"/>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526979"/>
                </a:solidFill>
                <a:latin typeface="Helvetica Neue"/>
                <a:ea typeface="Helvetica Neue"/>
                <a:cs typeface="Helvetica Neue"/>
              </a:defRPr>
            </a:pPr>
            <a:r>
              <a:rPr sz="1200" b="0">
                <a:solidFill>
                  <a:srgbClr val="526979"/>
                </a:solidFill>
                <a:latin typeface="Helvetica Neue"/>
                <a:ea typeface="Helvetica Neue"/>
                <a:cs typeface="Helvetica Neue"/>
              </a:rPr>
              <a:t>15</a:t>
            </a:r>
          </a:p>
        </p:txBody>
      </p:sp>
      <p:sp>
        <p:nvSpPr>
          <p:cNvPr id="3" name="Rettangolo 2">
            <a:extLst>
              <a:ext uri="{FF2B5EF4-FFF2-40B4-BE49-F238E27FC236}">
                <a16:creationId xmlns:a16="http://schemas.microsoft.com/office/drawing/2014/main" id="{C7294774-5E91-455E-9394-36DA413F9B84}"/>
              </a:ext>
            </a:extLst>
          </p:cNvPr>
          <p:cNvSpPr>
            <a:spLocks noGrp="1"/>
          </p:cNvSpPr>
          <p:nvPr/>
        </p:nvSpPr>
        <p:spPr>
          <a:xfrm>
            <a:off x="609600" y="1457325"/>
            <a:ext cx="10668000" cy="428625"/>
          </a:xfrm>
          <a:prstGeom prst="rect">
            <a:avLst/>
          </a:prstGeom>
          <a:noFill/>
          <a:ln w="0">
            <a:noFill/>
          </a:ln>
        </p:spPr>
        <p:txBody>
          <a:bodyPr>
            <a:noAutofit/>
          </a:bodyPr>
          <a:lstStyle/>
          <a:p>
            <a:pPr>
              <a:defRPr sz="2325" b="1">
                <a:solidFill>
                  <a:srgbClr val="176899"/>
                </a:solidFill>
                <a:latin typeface="Helvetica Neue"/>
                <a:ea typeface="Helvetica Neue"/>
                <a:cs typeface="Helvetica Neue"/>
              </a:defRPr>
            </a:pPr>
            <a:r>
              <a:rPr sz="2325" b="1">
                <a:solidFill>
                  <a:srgbClr val="176899"/>
                </a:solidFill>
                <a:latin typeface="Helvetica Neue"/>
                <a:ea typeface="Helvetica Neue"/>
                <a:cs typeface="Helvetica Neue"/>
              </a:rPr>
              <a:t>Gruppo o persona non visibile</a:t>
            </a:r>
          </a:p>
        </p:txBody>
      </p:sp>
      <p:sp>
        <p:nvSpPr>
          <p:cNvPr id="4" name="Rettangolo 3">
            <a:extLst>
              <a:ext uri="{FF2B5EF4-FFF2-40B4-BE49-F238E27FC236}">
                <a16:creationId xmlns:a16="http://schemas.microsoft.com/office/drawing/2014/main" id="{BD297622-94D9-4BEA-AC69-552FDCF3E555}"/>
              </a:ext>
            </a:extLst>
          </p:cNvPr>
          <p:cNvSpPr>
            <a:spLocks noGrp="1"/>
          </p:cNvSpPr>
          <p:nvPr/>
        </p:nvSpPr>
        <p:spPr>
          <a:xfrm>
            <a:off x="609600" y="2019300"/>
            <a:ext cx="10477500" cy="781050"/>
          </a:xfrm>
          <a:prstGeom prst="rect">
            <a:avLst/>
          </a:prstGeom>
          <a:noFill/>
          <a:ln w="0">
            <a:noFill/>
          </a:ln>
        </p:spPr>
        <p:txBody>
          <a:bodyPr>
            <a:noAutofit/>
          </a:bodyPr>
          <a:lstStyle/>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Prova “Azzera”. Se manca ancora, chiedi una verifica del gruppo o dell’incarico.</a:t>
            </a:r>
          </a:p>
        </p:txBody>
      </p:sp>
      <p:sp>
        <p:nvSpPr>
          <p:cNvPr id="5" name="Rettangolo 4">
            <a:extLst>
              <a:ext uri="{FF2B5EF4-FFF2-40B4-BE49-F238E27FC236}">
                <a16:creationId xmlns:a16="http://schemas.microsoft.com/office/drawing/2014/main" id="{08915D72-C48B-49C8-BB9D-3294D351E1E8}"/>
              </a:ext>
            </a:extLst>
          </p:cNvPr>
          <p:cNvSpPr>
            <a:spLocks noGrp="1"/>
          </p:cNvSpPr>
          <p:nvPr/>
        </p:nvSpPr>
        <p:spPr>
          <a:xfrm>
            <a:off x="609600" y="3009900"/>
            <a:ext cx="10668000" cy="428625"/>
          </a:xfrm>
          <a:prstGeom prst="rect">
            <a:avLst/>
          </a:prstGeom>
          <a:noFill/>
          <a:ln w="0">
            <a:noFill/>
          </a:ln>
        </p:spPr>
        <p:txBody>
          <a:bodyPr>
            <a:noAutofit/>
          </a:bodyPr>
          <a:lstStyle/>
          <a:p>
            <a:pPr>
              <a:defRPr sz="2325" b="1">
                <a:solidFill>
                  <a:srgbClr val="176899"/>
                </a:solidFill>
                <a:latin typeface="Helvetica Neue"/>
                <a:ea typeface="Helvetica Neue"/>
                <a:cs typeface="Helvetica Neue"/>
              </a:defRPr>
            </a:pPr>
            <a:r>
              <a:rPr sz="2325" b="1">
                <a:solidFill>
                  <a:srgbClr val="176899"/>
                </a:solidFill>
                <a:latin typeface="Helvetica Neue"/>
                <a:ea typeface="Helvetica Neue"/>
                <a:cs typeface="Helvetica Neue"/>
              </a:rPr>
              <a:t>Gruppo, servizio o duplicati da correggere</a:t>
            </a:r>
          </a:p>
        </p:txBody>
      </p:sp>
      <p:sp>
        <p:nvSpPr>
          <p:cNvPr id="6" name="Rettangolo 5">
            <a:extLst>
              <a:ext uri="{FF2B5EF4-FFF2-40B4-BE49-F238E27FC236}">
                <a16:creationId xmlns:a16="http://schemas.microsoft.com/office/drawing/2014/main" id="{1BBDE228-3CEC-4BD8-8E6E-FAA3AF2034D1}"/>
              </a:ext>
            </a:extLst>
          </p:cNvPr>
          <p:cNvSpPr>
            <a:spLocks noGrp="1"/>
          </p:cNvSpPr>
          <p:nvPr/>
        </p:nvSpPr>
        <p:spPr>
          <a:xfrm>
            <a:off x="609600" y="3571875"/>
            <a:ext cx="10477500" cy="781050"/>
          </a:xfrm>
          <a:prstGeom prst="rect">
            <a:avLst/>
          </a:prstGeom>
          <a:noFill/>
          <a:ln w="0">
            <a:noFill/>
          </a:ln>
        </p:spPr>
        <p:txBody>
          <a:bodyPr>
            <a:noAutofit/>
          </a:bodyPr>
          <a:lstStyle/>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Chiedi al manager la riassegnazione, la modifica del servizio o il controllo delle schede.</a:t>
            </a:r>
          </a:p>
        </p:txBody>
      </p:sp>
      <p:sp>
        <p:nvSpPr>
          <p:cNvPr id="7" name="Rettangolo 6">
            <a:extLst>
              <a:ext uri="{FF2B5EF4-FFF2-40B4-BE49-F238E27FC236}">
                <a16:creationId xmlns:a16="http://schemas.microsoft.com/office/drawing/2014/main" id="{CE6181B7-EB5C-408F-8CAF-EACE23C3B8E2}"/>
              </a:ext>
            </a:extLst>
          </p:cNvPr>
          <p:cNvSpPr>
            <a:spLocks noGrp="1"/>
          </p:cNvSpPr>
          <p:nvPr/>
        </p:nvSpPr>
        <p:spPr>
          <a:xfrm>
            <a:off x="609600" y="4562475"/>
            <a:ext cx="10668000" cy="428625"/>
          </a:xfrm>
          <a:prstGeom prst="rect">
            <a:avLst/>
          </a:prstGeom>
          <a:noFill/>
          <a:ln w="0">
            <a:noFill/>
          </a:ln>
        </p:spPr>
        <p:txBody>
          <a:bodyPr>
            <a:noAutofit/>
          </a:bodyPr>
          <a:lstStyle/>
          <a:p>
            <a:pPr>
              <a:defRPr sz="2325" b="1">
                <a:solidFill>
                  <a:srgbClr val="176899"/>
                </a:solidFill>
                <a:latin typeface="Helvetica Neue"/>
                <a:ea typeface="Helvetica Neue"/>
                <a:cs typeface="Helvetica Neue"/>
              </a:defRPr>
            </a:pPr>
            <a:r>
              <a:rPr sz="2325" b="1">
                <a:solidFill>
                  <a:srgbClr val="176899"/>
                </a:solidFill>
                <a:latin typeface="Helvetica Neue"/>
                <a:ea typeface="Helvetica Neue"/>
                <a:cs typeface="Helvetica Neue"/>
              </a:rPr>
              <a:t>QR non disponibile</a:t>
            </a:r>
          </a:p>
        </p:txBody>
      </p:sp>
      <p:sp>
        <p:nvSpPr>
          <p:cNvPr id="8" name="Rettangolo 7">
            <a:extLst>
              <a:ext uri="{FF2B5EF4-FFF2-40B4-BE49-F238E27FC236}">
                <a16:creationId xmlns:a16="http://schemas.microsoft.com/office/drawing/2014/main" id="{0CC190DC-1F11-4B9D-8296-B6E308563567}"/>
              </a:ext>
            </a:extLst>
          </p:cNvPr>
          <p:cNvSpPr>
            <a:spLocks noGrp="1"/>
          </p:cNvSpPr>
          <p:nvPr/>
        </p:nvSpPr>
        <p:spPr>
          <a:xfrm>
            <a:off x="609600" y="5124450"/>
            <a:ext cx="10477500" cy="781050"/>
          </a:xfrm>
          <a:prstGeom prst="rect">
            <a:avLst/>
          </a:prstGeom>
          <a:noFill/>
          <a:ln w="0">
            <a:noFill/>
          </a:ln>
        </p:spPr>
        <p:txBody>
          <a:bodyPr>
            <a:noAutofit/>
          </a:bodyPr>
          <a:lstStyle/>
          <a:p>
            <a:pPr>
              <a:defRPr sz="2100" b="0">
                <a:solidFill>
                  <a:srgbClr val="102F4E"/>
                </a:solidFill>
                <a:latin typeface="Helvetica Neue"/>
                <a:ea typeface="Helvetica Neue"/>
                <a:cs typeface="Helvetica Neue"/>
              </a:defRPr>
            </a:pPr>
            <a:r>
              <a:rPr sz="2100" b="0">
                <a:solidFill>
                  <a:srgbClr val="102F4E"/>
                </a:solidFill>
                <a:latin typeface="Helvetica Neue"/>
                <a:ea typeface="Helvetica Neue"/>
                <a:cs typeface="Helvetica Neue"/>
              </a:rPr>
              <a:t>Comunica il codice partecipante all’accoglienza.</a:t>
            </a:r>
          </a:p>
        </p:txBody>
      </p:sp>
    </p:spTree>
    <p:extLst>
      <p:ext uri="{BB962C8B-B14F-4D97-AF65-F5344CB8AC3E}">
        <p14:creationId xmlns:p14="http://schemas.microsoft.com/office/powerpoint/2010/main" val="1716283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F4E"/>
        </a:solidFill>
        <a:effectLst/>
      </p:bgPr>
    </p:bg>
    <p:spTree>
      <p:nvGrpSpPr>
        <p:cNvPr id="1" name=""/>
        <p:cNvGrpSpPr/>
        <p:nvPr/>
      </p:nvGrpSpPr>
      <p:grpSpPr>
        <a:xfrm>
          <a:off x="0" y="0"/>
          <a:ext cx="0" cy="0"/>
          <a:chOff x="0" y="0"/>
          <a:chExt cx="0" cy="0"/>
        </a:xfrm>
      </p:grpSpPr>
      <p:sp>
        <p:nvSpPr>
          <p:cNvPr id="12" name="Rettangolo 11">
            <a:extLst>
              <a:ext uri="{FF2B5EF4-FFF2-40B4-BE49-F238E27FC236}">
                <a16:creationId xmlns:a16="http://schemas.microsoft.com/office/drawing/2014/main" id="{3490D2B9-E157-4D20-AD98-20C7670CB80E}"/>
              </a:ext>
            </a:extLst>
          </p:cNvPr>
          <p:cNvSpPr>
            <a:spLocks noGrp="1"/>
          </p:cNvSpPr>
          <p:nvPr/>
        </p:nvSpPr>
        <p:spPr>
          <a:xfrm>
            <a:off x="609600" y="438150"/>
            <a:ext cx="10953750" cy="723900"/>
          </a:xfrm>
          <a:prstGeom prst="rect">
            <a:avLst/>
          </a:prstGeom>
          <a:noFill/>
          <a:ln w="0">
            <a:noFill/>
          </a:ln>
        </p:spPr>
        <p:txBody>
          <a:bodyPr>
            <a:noAutofit/>
          </a:bodyPr>
          <a:lstStyle/>
          <a:p>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Una prima prova insieme</a:t>
            </a:r>
          </a:p>
        </p:txBody>
      </p:sp>
      <p:sp>
        <p:nvSpPr>
          <p:cNvPr id="2" name="Rettangolo 1">
            <a:extLst>
              <a:ext uri="{FF2B5EF4-FFF2-40B4-BE49-F238E27FC236}">
                <a16:creationId xmlns:a16="http://schemas.microsoft.com/office/drawing/2014/main" id="{DF5DD4F7-1552-41A9-A2A3-E2ED841404DF}"/>
              </a:ext>
            </a:extLst>
          </p:cNvPr>
          <p:cNvSpPr>
            <a:spLocks noGrp="1"/>
          </p:cNvSpPr>
          <p:nvPr/>
        </p:nvSpPr>
        <p:spPr>
          <a:xfrm>
            <a:off x="11144250" y="6381750"/>
            <a:ext cx="476250" cy="247650"/>
          </a:xfrm>
          <a:prstGeom prst="rect">
            <a:avLst/>
          </a:prstGeom>
          <a:noFill/>
          <a:ln w="0">
            <a:noFill/>
          </a:ln>
        </p:spPr>
        <p:txBody>
          <a:bodyPr>
            <a:noAutofit/>
          </a:bodyPr>
          <a:lstStyle/>
          <a:p>
            <a:pPr>
              <a:defRPr sz="1200" b="0">
                <a:solidFill>
                  <a:srgbClr val="BDCEDA"/>
                </a:solidFill>
                <a:latin typeface="Helvetica Neue"/>
                <a:ea typeface="Helvetica Neue"/>
                <a:cs typeface="Helvetica Neue"/>
              </a:defRPr>
            </a:pPr>
            <a:r>
              <a:rPr sz="1200" b="0">
                <a:solidFill>
                  <a:srgbClr val="BDCEDA"/>
                </a:solidFill>
                <a:latin typeface="Helvetica Neue"/>
                <a:ea typeface="Helvetica Neue"/>
                <a:cs typeface="Helvetica Neue"/>
              </a:rPr>
              <a:t>16</a:t>
            </a:r>
          </a:p>
        </p:txBody>
      </p:sp>
      <p:sp>
        <p:nvSpPr>
          <p:cNvPr id="3" name="Rettangolo 2">
            <a:extLst>
              <a:ext uri="{FF2B5EF4-FFF2-40B4-BE49-F238E27FC236}">
                <a16:creationId xmlns:a16="http://schemas.microsoft.com/office/drawing/2014/main" id="{B833EF74-3FB3-488D-B150-DF783B793976}"/>
              </a:ext>
            </a:extLst>
          </p:cNvPr>
          <p:cNvSpPr>
            <a:spLocks noGrp="1"/>
          </p:cNvSpPr>
          <p:nvPr/>
        </p:nvSpPr>
        <p:spPr>
          <a:xfrm>
            <a:off x="609600" y="1638300"/>
            <a:ext cx="647700" cy="447675"/>
          </a:xfrm>
          <a:prstGeom prst="rect">
            <a:avLst/>
          </a:prstGeom>
          <a:noFill/>
          <a:ln w="0">
            <a:noFill/>
          </a:ln>
        </p:spPr>
        <p:txBody>
          <a:bodyPr>
            <a:noAutofit/>
          </a:bodyPr>
          <a:lstStyle/>
          <a:p>
            <a:pPr>
              <a:defRPr sz="2400" b="1">
                <a:solidFill>
                  <a:srgbClr val="80C5EC"/>
                </a:solidFill>
                <a:latin typeface="Helvetica Neue"/>
                <a:ea typeface="Helvetica Neue"/>
                <a:cs typeface="Helvetica Neue"/>
              </a:defRPr>
            </a:pPr>
            <a:r>
              <a:rPr sz="2400" b="1">
                <a:solidFill>
                  <a:srgbClr val="80C5EC"/>
                </a:solidFill>
                <a:latin typeface="Helvetica Neue"/>
                <a:ea typeface="Helvetica Neue"/>
                <a:cs typeface="Helvetica Neue"/>
              </a:rPr>
              <a:t>01</a:t>
            </a:r>
          </a:p>
        </p:txBody>
      </p:sp>
      <p:sp>
        <p:nvSpPr>
          <p:cNvPr id="4" name="Rettangolo 3">
            <a:extLst>
              <a:ext uri="{FF2B5EF4-FFF2-40B4-BE49-F238E27FC236}">
                <a16:creationId xmlns:a16="http://schemas.microsoft.com/office/drawing/2014/main" id="{87A11616-BE6B-4B29-8908-9451B9085537}"/>
              </a:ext>
            </a:extLst>
          </p:cNvPr>
          <p:cNvSpPr>
            <a:spLocks noGrp="1"/>
          </p:cNvSpPr>
          <p:nvPr/>
        </p:nvSpPr>
        <p:spPr>
          <a:xfrm>
            <a:off x="1514475" y="1628775"/>
            <a:ext cx="9906000" cy="628650"/>
          </a:xfrm>
          <a:prstGeom prst="rect">
            <a:avLst/>
          </a:prstGeom>
          <a:noFill/>
          <a:ln w="0">
            <a:noFill/>
          </a:ln>
        </p:spPr>
        <p:txBody>
          <a:bodyPr>
            <a:noAutofit/>
          </a:bodyPr>
          <a:lstStyle/>
          <a:p>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Trova una persona per nome e apri la sua scheda.</a:t>
            </a:r>
          </a:p>
        </p:txBody>
      </p:sp>
      <p:sp>
        <p:nvSpPr>
          <p:cNvPr id="5" name="Rettangolo 4">
            <a:extLst>
              <a:ext uri="{FF2B5EF4-FFF2-40B4-BE49-F238E27FC236}">
                <a16:creationId xmlns:a16="http://schemas.microsoft.com/office/drawing/2014/main" id="{87C64A55-6A11-413E-95F8-05D48A9D3B59}"/>
              </a:ext>
            </a:extLst>
          </p:cNvPr>
          <p:cNvSpPr>
            <a:spLocks noGrp="1"/>
          </p:cNvSpPr>
          <p:nvPr/>
        </p:nvSpPr>
        <p:spPr>
          <a:xfrm>
            <a:off x="609600" y="2628900"/>
            <a:ext cx="647700" cy="447675"/>
          </a:xfrm>
          <a:prstGeom prst="rect">
            <a:avLst/>
          </a:prstGeom>
          <a:noFill/>
          <a:ln w="0">
            <a:noFill/>
          </a:ln>
        </p:spPr>
        <p:txBody>
          <a:bodyPr>
            <a:noAutofit/>
          </a:bodyPr>
          <a:lstStyle/>
          <a:p>
            <a:pPr>
              <a:defRPr sz="2400" b="1">
                <a:solidFill>
                  <a:srgbClr val="80C5EC"/>
                </a:solidFill>
                <a:latin typeface="Helvetica Neue"/>
                <a:ea typeface="Helvetica Neue"/>
                <a:cs typeface="Helvetica Neue"/>
              </a:defRPr>
            </a:pPr>
            <a:r>
              <a:rPr sz="2400" b="1">
                <a:solidFill>
                  <a:srgbClr val="80C5EC"/>
                </a:solidFill>
                <a:latin typeface="Helvetica Neue"/>
                <a:ea typeface="Helvetica Neue"/>
                <a:cs typeface="Helvetica Neue"/>
              </a:rPr>
              <a:t>02</a:t>
            </a:r>
          </a:p>
        </p:txBody>
      </p:sp>
      <p:sp>
        <p:nvSpPr>
          <p:cNvPr id="6" name="Rettangolo 5">
            <a:extLst>
              <a:ext uri="{FF2B5EF4-FFF2-40B4-BE49-F238E27FC236}">
                <a16:creationId xmlns:a16="http://schemas.microsoft.com/office/drawing/2014/main" id="{EC31E208-48A9-4A3B-9FB1-E8F988217CC5}"/>
              </a:ext>
            </a:extLst>
          </p:cNvPr>
          <p:cNvSpPr>
            <a:spLocks noGrp="1"/>
          </p:cNvSpPr>
          <p:nvPr/>
        </p:nvSpPr>
        <p:spPr>
          <a:xfrm>
            <a:off x="1514475" y="2619375"/>
            <a:ext cx="9906000" cy="628650"/>
          </a:xfrm>
          <a:prstGeom prst="rect">
            <a:avLst/>
          </a:prstGeom>
          <a:noFill/>
          <a:ln w="0">
            <a:noFill/>
          </a:ln>
        </p:spPr>
        <p:txBody>
          <a:bodyPr>
            <a:noAutofit/>
          </a:bodyPr>
          <a:lstStyle/>
          <a:p>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Scegli le colonne utili e cambia l’ordinamento.</a:t>
            </a:r>
          </a:p>
        </p:txBody>
      </p:sp>
      <p:sp>
        <p:nvSpPr>
          <p:cNvPr id="7" name="Rettangolo 6">
            <a:extLst>
              <a:ext uri="{FF2B5EF4-FFF2-40B4-BE49-F238E27FC236}">
                <a16:creationId xmlns:a16="http://schemas.microsoft.com/office/drawing/2014/main" id="{F96DB1F9-E123-479F-BF50-5A25AD2AEC80}"/>
              </a:ext>
            </a:extLst>
          </p:cNvPr>
          <p:cNvSpPr>
            <a:spLocks noGrp="1"/>
          </p:cNvSpPr>
          <p:nvPr/>
        </p:nvSpPr>
        <p:spPr>
          <a:xfrm>
            <a:off x="609600" y="3619500"/>
            <a:ext cx="647700" cy="447675"/>
          </a:xfrm>
          <a:prstGeom prst="rect">
            <a:avLst/>
          </a:prstGeom>
          <a:noFill/>
          <a:ln w="0">
            <a:noFill/>
          </a:ln>
        </p:spPr>
        <p:txBody>
          <a:bodyPr>
            <a:noAutofit/>
          </a:bodyPr>
          <a:lstStyle/>
          <a:p>
            <a:pPr>
              <a:defRPr sz="2400" b="1">
                <a:solidFill>
                  <a:srgbClr val="80C5EC"/>
                </a:solidFill>
                <a:latin typeface="Helvetica Neue"/>
                <a:ea typeface="Helvetica Neue"/>
                <a:cs typeface="Helvetica Neue"/>
              </a:defRPr>
            </a:pPr>
            <a:r>
              <a:rPr sz="2400" b="1">
                <a:solidFill>
                  <a:srgbClr val="80C5EC"/>
                </a:solidFill>
                <a:latin typeface="Helvetica Neue"/>
                <a:ea typeface="Helvetica Neue"/>
                <a:cs typeface="Helvetica Neue"/>
              </a:rPr>
              <a:t>03</a:t>
            </a:r>
          </a:p>
        </p:txBody>
      </p:sp>
      <p:sp>
        <p:nvSpPr>
          <p:cNvPr id="8" name="Rettangolo 7">
            <a:extLst>
              <a:ext uri="{FF2B5EF4-FFF2-40B4-BE49-F238E27FC236}">
                <a16:creationId xmlns:a16="http://schemas.microsoft.com/office/drawing/2014/main" id="{F582AA32-88D8-4AD0-879B-3EB41A677A27}"/>
              </a:ext>
            </a:extLst>
          </p:cNvPr>
          <p:cNvSpPr>
            <a:spLocks noGrp="1"/>
          </p:cNvSpPr>
          <p:nvPr/>
        </p:nvSpPr>
        <p:spPr>
          <a:xfrm>
            <a:off x="1514475" y="3609975"/>
            <a:ext cx="9906000" cy="628650"/>
          </a:xfrm>
          <a:prstGeom prst="rect">
            <a:avLst/>
          </a:prstGeom>
          <a:noFill/>
          <a:ln w="0">
            <a:noFill/>
          </a:ln>
        </p:spPr>
        <p:txBody>
          <a:bodyPr>
            <a:noAutofit/>
          </a:bodyPr>
          <a:lstStyle/>
          <a:p>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Individua “Scarica immagine” e “Copia link”.</a:t>
            </a:r>
          </a:p>
        </p:txBody>
      </p:sp>
      <p:sp>
        <p:nvSpPr>
          <p:cNvPr id="9" name="Rettangolo 8">
            <a:extLst>
              <a:ext uri="{FF2B5EF4-FFF2-40B4-BE49-F238E27FC236}">
                <a16:creationId xmlns:a16="http://schemas.microsoft.com/office/drawing/2014/main" id="{0910BFBC-144C-4D92-9B06-5F99C6D221A8}"/>
              </a:ext>
            </a:extLst>
          </p:cNvPr>
          <p:cNvSpPr>
            <a:spLocks noGrp="1"/>
          </p:cNvSpPr>
          <p:nvPr/>
        </p:nvSpPr>
        <p:spPr>
          <a:xfrm>
            <a:off x="609600" y="4610100"/>
            <a:ext cx="647700" cy="447675"/>
          </a:xfrm>
          <a:prstGeom prst="rect">
            <a:avLst/>
          </a:prstGeom>
          <a:noFill/>
          <a:ln w="0">
            <a:noFill/>
          </a:ln>
        </p:spPr>
        <p:txBody>
          <a:bodyPr>
            <a:noAutofit/>
          </a:bodyPr>
          <a:lstStyle/>
          <a:p>
            <a:pPr>
              <a:defRPr sz="2400" b="1">
                <a:solidFill>
                  <a:srgbClr val="80C5EC"/>
                </a:solidFill>
                <a:latin typeface="Helvetica Neue"/>
                <a:ea typeface="Helvetica Neue"/>
                <a:cs typeface="Helvetica Neue"/>
              </a:defRPr>
            </a:pPr>
            <a:r>
              <a:rPr sz="2400" b="1">
                <a:solidFill>
                  <a:srgbClr val="80C5EC"/>
                </a:solidFill>
                <a:latin typeface="Helvetica Neue"/>
                <a:ea typeface="Helvetica Neue"/>
                <a:cs typeface="Helvetica Neue"/>
              </a:rPr>
              <a:t>04</a:t>
            </a:r>
          </a:p>
        </p:txBody>
      </p:sp>
      <p:sp>
        <p:nvSpPr>
          <p:cNvPr id="10" name="Rettangolo 9">
            <a:extLst>
              <a:ext uri="{FF2B5EF4-FFF2-40B4-BE49-F238E27FC236}">
                <a16:creationId xmlns:a16="http://schemas.microsoft.com/office/drawing/2014/main" id="{5DBB8093-A3D8-41E1-B388-D7C029D4986D}"/>
              </a:ext>
            </a:extLst>
          </p:cNvPr>
          <p:cNvSpPr>
            <a:spLocks noGrp="1"/>
          </p:cNvSpPr>
          <p:nvPr/>
        </p:nvSpPr>
        <p:spPr>
          <a:xfrm>
            <a:off x="1514475" y="4600575"/>
            <a:ext cx="9906000" cy="628650"/>
          </a:xfrm>
          <a:prstGeom prst="rect">
            <a:avLst/>
          </a:prstGeom>
          <a:noFill/>
          <a:ln w="0">
            <a:noFill/>
          </a:ln>
        </p:spPr>
        <p:txBody>
          <a:bodyPr>
            <a:noAutofit/>
          </a:bodyPr>
          <a:lstStyle/>
          <a:p>
            <a:pPr>
              <a:defRPr sz="2325" b="0">
                <a:solidFill>
                  <a:srgbClr val="FFFFFF"/>
                </a:solidFill>
                <a:latin typeface="Helvetica Neue"/>
                <a:ea typeface="Helvetica Neue"/>
                <a:cs typeface="Helvetica Neue"/>
              </a:defRPr>
            </a:pPr>
            <a:r>
              <a:rPr sz="2325" b="0">
                <a:solidFill>
                  <a:srgbClr val="FFFFFF"/>
                </a:solidFill>
                <a:latin typeface="Helvetica Neue"/>
                <a:ea typeface="Helvetica Neue"/>
                <a:cs typeface="Helvetica Neue"/>
              </a:rPr>
              <a:t>Prepara l’elenco da esportare in Excel.</a:t>
            </a:r>
          </a:p>
        </p:txBody>
      </p:sp>
      <p:sp>
        <p:nvSpPr>
          <p:cNvPr id="11" name="Rettangolo 10">
            <a:extLst>
              <a:ext uri="{FF2B5EF4-FFF2-40B4-BE49-F238E27FC236}">
                <a16:creationId xmlns:a16="http://schemas.microsoft.com/office/drawing/2014/main" id="{4A174A9A-4047-4489-8837-FB54EC330BC1}"/>
              </a:ext>
            </a:extLst>
          </p:cNvPr>
          <p:cNvSpPr>
            <a:spLocks noGrp="1"/>
          </p:cNvSpPr>
          <p:nvPr/>
        </p:nvSpPr>
        <p:spPr>
          <a:xfrm>
            <a:off x="609600" y="5772150"/>
            <a:ext cx="10572750" cy="609600"/>
          </a:xfrm>
          <a:prstGeom prst="rect">
            <a:avLst/>
          </a:prstGeom>
          <a:noFill/>
          <a:ln w="0">
            <a:noFill/>
          </a:ln>
        </p:spPr>
        <p:txBody>
          <a:bodyPr>
            <a:noAutofit/>
          </a:bodyPr>
          <a:lstStyle/>
          <a:p>
            <a:pPr>
              <a:defRPr sz="1875" b="0">
                <a:solidFill>
                  <a:srgbClr val="CBDDE8"/>
                </a:solidFill>
                <a:latin typeface="Helvetica Neue"/>
                <a:ea typeface="Helvetica Neue"/>
                <a:cs typeface="Helvetica Neue"/>
              </a:defRPr>
            </a:pPr>
            <a:r>
              <a:rPr sz="1875" b="0">
                <a:solidFill>
                  <a:srgbClr val="CBDDE8"/>
                </a:solidFill>
                <a:latin typeface="Helvetica Neue"/>
                <a:ea typeface="Helvetica Neue"/>
                <a:cs typeface="Helvetica Neue"/>
              </a:rPr>
              <a:t>Gli iscritti in elenco sono già assegnati al gruppo.</a:t>
            </a:r>
          </a:p>
          <a:p>
            <a:pPr>
              <a:defRPr sz="1875" b="0">
                <a:solidFill>
                  <a:srgbClr val="CBDDE8"/>
                </a:solidFill>
                <a:latin typeface="Helvetica Neue"/>
                <a:ea typeface="Helvetica Neue"/>
                <a:cs typeface="Helvetica Neue"/>
              </a:defRPr>
            </a:pPr>
            <a:r>
              <a:rPr sz="1875" b="0">
                <a:solidFill>
                  <a:srgbClr val="CBDDE8"/>
                </a:solidFill>
                <a:latin typeface="Helvetica Neue"/>
                <a:ea typeface="Helvetica Neue"/>
                <a:cs typeface="Helvetica Neue"/>
              </a:rPr>
              <a:t>Non serve confermarli uno per uno.</a:t>
            </a:r>
          </a:p>
        </p:txBody>
      </p:sp>
    </p:spTree>
    <p:extLst>
      <p:ext uri="{BB962C8B-B14F-4D97-AF65-F5344CB8AC3E}">
        <p14:creationId xmlns:p14="http://schemas.microsoft.com/office/powerpoint/2010/main" val="1568790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2317</Words>
  <Application>Microsoft Macintosh PowerPoint</Application>
  <DocSecurity>0</DocSecurity>
  <PresentationFormat>Widescreen</PresentationFormat>
  <Paragraphs>177</Paragraphs>
  <Slides>16</Slides>
  <Notes>16</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16</vt:i4>
      </vt:variant>
    </vt:vector>
  </HeadingPairs>
  <TitlesOfParts>
    <vt:vector size="19" baseType="lpstr">
      <vt:lpstr>Calibri</vt:lpstr>
      <vt:lpstr>Helvetica Neue</vt:lpstr>
      <vt:lpstr>ChatGPT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Stefano Orlando</cp:lastModifiedBy>
  <cp:revision>1</cp:revision>
  <dcterms:created xsi:type="dcterms:W3CDTF">2026-09-08T13:16:36Z</dcterms:created>
  <dcterms:modified xsi:type="dcterms:W3CDTF">2026-09-08T13:24:04Z</dcterms:modified>
</cp:coreProperties>
</file>